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7"/>
  </p:notesMasterIdLst>
  <p:handoutMasterIdLst>
    <p:handoutMasterId r:id="rId28"/>
  </p:handoutMasterIdLst>
  <p:sldIdLst>
    <p:sldId id="289" r:id="rId5"/>
    <p:sldId id="286" r:id="rId6"/>
    <p:sldId id="297" r:id="rId7"/>
    <p:sldId id="278" r:id="rId8"/>
    <p:sldId id="296" r:id="rId9"/>
    <p:sldId id="298" r:id="rId10"/>
    <p:sldId id="276" r:id="rId11"/>
    <p:sldId id="299" r:id="rId12"/>
    <p:sldId id="300" r:id="rId13"/>
    <p:sldId id="301" r:id="rId14"/>
    <p:sldId id="302" r:id="rId15"/>
    <p:sldId id="303" r:id="rId16"/>
    <p:sldId id="311" r:id="rId17"/>
    <p:sldId id="273" r:id="rId18"/>
    <p:sldId id="274" r:id="rId19"/>
    <p:sldId id="322" r:id="rId20"/>
    <p:sldId id="307" r:id="rId21"/>
    <p:sldId id="304" r:id="rId22"/>
    <p:sldId id="306" r:id="rId23"/>
    <p:sldId id="305" r:id="rId24"/>
    <p:sldId id="308" r:id="rId25"/>
    <p:sldId id="288" r:id="rId26"/>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70"/>
  </p:normalViewPr>
  <p:slideViewPr>
    <p:cSldViewPr snapToGrid="0">
      <p:cViewPr varScale="1">
        <p:scale>
          <a:sx n="72" d="100"/>
          <a:sy n="72" d="100"/>
        </p:scale>
        <p:origin x="660" y="78"/>
      </p:cViewPr>
      <p:guideLst>
        <p:guide pos="3840"/>
        <p:guide orient="horz" pos="216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8EB8BBB-53FA-476C-A309-D2686EA80C4C}" type="datetime1">
              <a:rPr lang="es-ES" smtClean="0"/>
              <a:t>04/12/2025</a:t>
            </a:fld>
            <a:endParaRPr lang="es-ES" dirty="0"/>
          </a:p>
        </p:txBody>
      </p:sp>
      <p:sp>
        <p:nvSpPr>
          <p:cNvPr id="4" name="Marcador de pie de página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C822411-A9A9-4A09-A341-69C657AB42A1}" type="slidenum">
              <a:rPr lang="es-ES" smtClean="0"/>
              <a:t>‹Nº›</a:t>
            </a:fld>
            <a:endParaRPr lang="es-E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D056B-5EC6-42CD-AF94-4751959146DD}" type="datetime1">
              <a:rPr lang="es-ES" smtClean="0"/>
              <a:pPr/>
              <a:t>04/12/2025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endParaRPr lang="es-ES" dirty="0"/>
          </a:p>
          <a:p>
            <a:pPr lvl="1" rtl="0"/>
            <a:r>
              <a:rPr lang="es-ES" dirty="0"/>
              <a:t>Segundo nivel</a:t>
            </a:r>
          </a:p>
          <a:p>
            <a:pPr lvl="2" rtl="0"/>
            <a:r>
              <a:rPr lang="es-ES" dirty="0"/>
              <a:t>Tercer nivel</a:t>
            </a:r>
          </a:p>
          <a:p>
            <a:pPr lvl="3" rtl="0"/>
            <a:r>
              <a:rPr lang="es-ES" dirty="0"/>
              <a:t>Cuarto nivel</a:t>
            </a:r>
          </a:p>
          <a:p>
            <a:pPr lvl="4" rtl="0"/>
            <a:r>
              <a:rPr lang="es-ES"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A004F4-F240-48F9-8AE1-486585C7F00D}" type="slidenum">
              <a:rPr lang="es-ES" smtClean="0"/>
              <a:t>‹Nº›</a:t>
            </a:fld>
            <a:endParaRPr lang="es-E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1</a:t>
            </a:fld>
            <a:endParaRPr lang="es-E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2</a:t>
            </a:fld>
            <a:endParaRPr lang="es-ES" dirty="0"/>
          </a:p>
        </p:txBody>
      </p:sp>
    </p:spTree>
    <p:extLst>
      <p:ext uri="{BB962C8B-B14F-4D97-AF65-F5344CB8AC3E}">
        <p14:creationId xmlns:p14="http://schemas.microsoft.com/office/powerpoint/2010/main" val="5284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9CA004F4-F240-48F9-8AE1-486585C7F00D}" type="slidenum">
              <a:rPr lang="es-ES" smtClean="0"/>
              <a:t>4</a:t>
            </a:fld>
            <a:endParaRPr lang="es-ES" dirty="0"/>
          </a:p>
        </p:txBody>
      </p:sp>
    </p:spTree>
    <p:extLst>
      <p:ext uri="{BB962C8B-B14F-4D97-AF65-F5344CB8AC3E}">
        <p14:creationId xmlns:p14="http://schemas.microsoft.com/office/powerpoint/2010/main" val="208969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9CA004F4-F240-48F9-8AE1-486585C7F00D}" type="slidenum">
              <a:rPr lang="es-ES" smtClean="0"/>
              <a:t>5</a:t>
            </a:fld>
            <a:endParaRPr lang="es-ES" dirty="0"/>
          </a:p>
        </p:txBody>
      </p:sp>
    </p:spTree>
    <p:extLst>
      <p:ext uri="{BB962C8B-B14F-4D97-AF65-F5344CB8AC3E}">
        <p14:creationId xmlns:p14="http://schemas.microsoft.com/office/powerpoint/2010/main" val="343139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a:p>
        </p:txBody>
      </p:sp>
      <p:sp>
        <p:nvSpPr>
          <p:cNvPr id="4" name="Marcador de número de diapositiva 3"/>
          <p:cNvSpPr>
            <a:spLocks noGrp="1"/>
          </p:cNvSpPr>
          <p:nvPr>
            <p:ph type="sldNum" sz="quarter" idx="10"/>
          </p:nvPr>
        </p:nvSpPr>
        <p:spPr/>
        <p:txBody>
          <a:bodyPr/>
          <a:lstStyle/>
          <a:p>
            <a:fld id="{50A15587-DD39-47C4-A7BE-43C5C99B8101}" type="slidenum">
              <a:rPr lang="es-EC" smtClean="0"/>
              <a:t>16</a:t>
            </a:fld>
            <a:endParaRPr lang="es-EC"/>
          </a:p>
        </p:txBody>
      </p:sp>
    </p:spTree>
    <p:extLst>
      <p:ext uri="{BB962C8B-B14F-4D97-AF65-F5344CB8AC3E}">
        <p14:creationId xmlns:p14="http://schemas.microsoft.com/office/powerpoint/2010/main" val="420705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9CA004F4-F240-48F9-8AE1-486585C7F00D}" type="slidenum">
              <a:rPr lang="es-ES" smtClean="0"/>
              <a:t>22</a:t>
            </a:fld>
            <a:endParaRPr lang="es-ES" dirty="0"/>
          </a:p>
        </p:txBody>
      </p:sp>
    </p:spTree>
    <p:extLst>
      <p:ext uri="{BB962C8B-B14F-4D97-AF65-F5344CB8AC3E}">
        <p14:creationId xmlns:p14="http://schemas.microsoft.com/office/powerpoint/2010/main" val="226386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rtlCol="0" anchor="b"/>
          <a:lstStyle>
            <a:lvl1pPr algn="ctr">
              <a:lnSpc>
                <a:spcPct val="125000"/>
              </a:lnSpc>
              <a:defRPr sz="6000">
                <a:solidFill>
                  <a:schemeClr val="bg1"/>
                </a:solidFill>
              </a:defRPr>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88B91F7B-C4AF-4FC6-A6BE-657DEF6D5358}"/>
              </a:ext>
            </a:extLst>
          </p:cNvPr>
          <p:cNvSpPr>
            <a:spLocks noGrp="1"/>
          </p:cNvSpPr>
          <p:nvPr>
            <p:ph type="dt" sz="half" idx="10"/>
          </p:nvPr>
        </p:nvSpPr>
        <p:spPr/>
        <p:txBody>
          <a:bodyPr rtlCol="0"/>
          <a:lstStyle/>
          <a:p>
            <a:pPr rtl="0"/>
            <a:fld id="{CF770DA5-3DC3-4237-90EB-C415EB41C75A}" type="datetime1">
              <a:rPr lang="es-ES" noProof="0" smtClean="0"/>
              <a:t>04/12/2025</a:t>
            </a:fld>
            <a:endParaRPr lang="es-ES" noProof="0" dirty="0"/>
          </a:p>
        </p:txBody>
      </p:sp>
      <p:sp>
        <p:nvSpPr>
          <p:cNvPr id="5" name="Marcador de pie de página 4">
            <a:extLst>
              <a:ext uri="{FF2B5EF4-FFF2-40B4-BE49-F238E27FC236}">
                <a16:creationId xmlns:a16="http://schemas.microsoft.com/office/drawing/2014/main" id="{5BED32F8-B0C7-4332-B0A5-BC19DD8C4CF5}"/>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211141-A77D-4E0E-8CAF-4CD3B279937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017EFDE0-5A54-402A-B0C3-6BC0BB739C25}"/>
              </a:ext>
            </a:extLst>
          </p:cNvPr>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8A2825AD-4585-4E37-A076-3D0070C9300C}"/>
              </a:ext>
            </a:extLst>
          </p:cNvPr>
          <p:cNvSpPr>
            <a:spLocks noGrp="1"/>
          </p:cNvSpPr>
          <p:nvPr>
            <p:ph type="dt" sz="half" idx="10"/>
          </p:nvPr>
        </p:nvSpPr>
        <p:spPr/>
        <p:txBody>
          <a:bodyPr rtlCol="0"/>
          <a:lstStyle/>
          <a:p>
            <a:pPr rtl="0"/>
            <a:fld id="{95949101-CB98-4C8F-81DB-71E43D7BC626}" type="datetime1">
              <a:rPr lang="es-ES" noProof="0" smtClean="0"/>
              <a:t>04/12/2025</a:t>
            </a:fld>
            <a:endParaRPr lang="es-ES" noProof="0" dirty="0"/>
          </a:p>
        </p:txBody>
      </p:sp>
      <p:sp>
        <p:nvSpPr>
          <p:cNvPr id="5" name="Marcador de pie de página 4">
            <a:extLst>
              <a:ext uri="{FF2B5EF4-FFF2-40B4-BE49-F238E27FC236}">
                <a16:creationId xmlns:a16="http://schemas.microsoft.com/office/drawing/2014/main" id="{512064AD-EDC3-4B13-8CD6-49EB60099ED4}"/>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a:extLst>
              <a:ext uri="{FF2B5EF4-FFF2-40B4-BE49-F238E27FC236}">
                <a16:creationId xmlns:a16="http://schemas.microsoft.com/office/drawing/2014/main" id="{B24D83DC-20E7-4B71-9794-36FC33B1BA03}"/>
              </a:ext>
            </a:extLst>
          </p:cNvPr>
          <p:cNvSpPr>
            <a:spLocks noGrp="1"/>
          </p:cNvSpPr>
          <p:nvPr>
            <p:ph type="dt" sz="half" idx="10"/>
          </p:nvPr>
        </p:nvSpPr>
        <p:spPr/>
        <p:txBody>
          <a:bodyPr rtlCol="0"/>
          <a:lstStyle/>
          <a:p>
            <a:pPr rtl="0"/>
            <a:fld id="{7D302F5C-0234-440C-8773-490E51DE01B9}" type="datetime1">
              <a:rPr lang="es-ES" noProof="0" smtClean="0"/>
              <a:t>04/12/2025</a:t>
            </a:fld>
            <a:endParaRPr lang="es-ES" noProof="0" dirty="0"/>
          </a:p>
        </p:txBody>
      </p:sp>
      <p:sp>
        <p:nvSpPr>
          <p:cNvPr id="5" name="Marcador de pie de página 4">
            <a:extLst>
              <a:ext uri="{FF2B5EF4-FFF2-40B4-BE49-F238E27FC236}">
                <a16:creationId xmlns:a16="http://schemas.microsoft.com/office/drawing/2014/main" id="{44E7D103-1290-4592-B37C-19C9C9DBEAE4}"/>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7" name="Marcador de posición de número de diapositiva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
        <p:nvSpPr>
          <p:cNvPr id="2" name="Título 1">
            <a:extLst>
              <a:ext uri="{FF2B5EF4-FFF2-40B4-BE49-F238E27FC236}">
                <a16:creationId xmlns:a16="http://schemas.microsoft.com/office/drawing/2014/main" id="{E7F76098-6FA1-470A-BEF4-E4B0AC75E8FE}"/>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contenido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47F57DE0-C032-4FCC-9006-09C2C328A665}"/>
              </a:ext>
            </a:extLst>
          </p:cNvPr>
          <p:cNvSpPr>
            <a:spLocks noGrp="1"/>
          </p:cNvSpPr>
          <p:nvPr>
            <p:ph type="dt" sz="half" idx="10"/>
          </p:nvPr>
        </p:nvSpPr>
        <p:spPr/>
        <p:txBody>
          <a:bodyPr rtlCol="0"/>
          <a:lstStyle/>
          <a:p>
            <a:pPr rtl="0"/>
            <a:fld id="{C4961380-8195-41EE-9574-2B3429217481}" type="datetime1">
              <a:rPr lang="es-ES" noProof="0" smtClean="0"/>
              <a:t>04/12/2025</a:t>
            </a:fld>
            <a:endParaRPr lang="es-ES" noProof="0" dirty="0"/>
          </a:p>
        </p:txBody>
      </p:sp>
      <p:sp>
        <p:nvSpPr>
          <p:cNvPr id="6" name="Marcador de pie de página 5">
            <a:extLst>
              <a:ext uri="{FF2B5EF4-FFF2-40B4-BE49-F238E27FC236}">
                <a16:creationId xmlns:a16="http://schemas.microsoft.com/office/drawing/2014/main" id="{90C776CB-2819-4488-9012-A6EA22079A47}"/>
              </a:ext>
            </a:extLst>
          </p:cNvPr>
          <p:cNvSpPr>
            <a:spLocks noGrp="1"/>
          </p:cNvSpPr>
          <p:nvPr>
            <p:ph type="ftr" sz="quarter" idx="11"/>
          </p:nvPr>
        </p:nvSpPr>
        <p:spPr/>
        <p:txBody>
          <a:bodyPr rtlCol="0"/>
          <a:lstStyle/>
          <a:p>
            <a:pPr rtl="0"/>
            <a:endParaRPr lang="es-ES" noProof="0"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11D097D1-3052-4C1F-B573-CA25FFF6CCB5}"/>
              </a:ext>
            </a:extLst>
          </p:cNvPr>
          <p:cNvSpPr>
            <a:spLocks noGrp="1"/>
          </p:cNvSpPr>
          <p:nvPr>
            <p:ph type="dt" sz="half" idx="10"/>
          </p:nvPr>
        </p:nvSpPr>
        <p:spPr/>
        <p:txBody>
          <a:bodyPr rtlCol="0"/>
          <a:lstStyle/>
          <a:p>
            <a:pPr rtl="0"/>
            <a:fld id="{762FC62E-52FA-4487-916D-9648D6F062C2}" type="datetime1">
              <a:rPr lang="es-ES" noProof="0" smtClean="0"/>
              <a:t>04/12/2025</a:t>
            </a:fld>
            <a:endParaRPr lang="es-ES" noProof="0" dirty="0"/>
          </a:p>
        </p:txBody>
      </p:sp>
      <p:sp>
        <p:nvSpPr>
          <p:cNvPr id="8" name="Marcador de pie de página 7">
            <a:extLst>
              <a:ext uri="{FF2B5EF4-FFF2-40B4-BE49-F238E27FC236}">
                <a16:creationId xmlns:a16="http://schemas.microsoft.com/office/drawing/2014/main" id="{F2607AC3-2220-4DDA-A22A-C404538FE48E}"/>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89EF5-3FD9-4423-A9E8-B67B4E902E9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030D7191-31B4-440E-A4E9-F412FA55824C}"/>
              </a:ext>
            </a:extLst>
          </p:cNvPr>
          <p:cNvSpPr>
            <a:spLocks noGrp="1"/>
          </p:cNvSpPr>
          <p:nvPr>
            <p:ph type="dt" sz="half" idx="10"/>
          </p:nvPr>
        </p:nvSpPr>
        <p:spPr/>
        <p:txBody>
          <a:bodyPr rtlCol="0"/>
          <a:lstStyle/>
          <a:p>
            <a:pPr rtl="0"/>
            <a:fld id="{83F9C069-0D28-49A2-89E8-C18F9A41EF29}" type="datetime1">
              <a:rPr lang="es-ES" noProof="0" smtClean="0"/>
              <a:t>04/12/2025</a:t>
            </a:fld>
            <a:endParaRPr lang="es-ES" noProof="0" dirty="0"/>
          </a:p>
        </p:txBody>
      </p:sp>
      <p:sp>
        <p:nvSpPr>
          <p:cNvPr id="4" name="Marcador de pie de página 3">
            <a:extLst>
              <a:ext uri="{FF2B5EF4-FFF2-40B4-BE49-F238E27FC236}">
                <a16:creationId xmlns:a16="http://schemas.microsoft.com/office/drawing/2014/main" id="{8EC85CB6-0880-4BF0-8E98-291E70C71377}"/>
              </a:ext>
            </a:extLst>
          </p:cNvPr>
          <p:cNvSpPr>
            <a:spLocks noGrp="1"/>
          </p:cNvSpPr>
          <p:nvPr>
            <p:ph type="ftr" sz="quarter" idx="11"/>
          </p:nvPr>
        </p:nvSpPr>
        <p:spPr/>
        <p:txBody>
          <a:bodyPr rtlCol="0"/>
          <a:lstStyle/>
          <a:p>
            <a:pPr rtl="0"/>
            <a:endParaRPr lang="es-ES" noProof="0" dirty="0"/>
          </a:p>
        </p:txBody>
      </p:sp>
      <p:sp>
        <p:nvSpPr>
          <p:cNvPr id="5" name="Marcador de posición de número de diapositiva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55C546-684A-45B9-8890-66DC55DF7D06}"/>
              </a:ext>
            </a:extLst>
          </p:cNvPr>
          <p:cNvSpPr>
            <a:spLocks noGrp="1"/>
          </p:cNvSpPr>
          <p:nvPr>
            <p:ph type="dt" sz="half" idx="10"/>
          </p:nvPr>
        </p:nvSpPr>
        <p:spPr/>
        <p:txBody>
          <a:bodyPr rtlCol="0"/>
          <a:lstStyle/>
          <a:p>
            <a:pPr rtl="0"/>
            <a:fld id="{6CA4CD59-E103-4131-8DF1-52DAB13F24DA}" type="datetime1">
              <a:rPr lang="es-ES" noProof="0" smtClean="0"/>
              <a:t>04/12/2025</a:t>
            </a:fld>
            <a:endParaRPr lang="es-ES" noProof="0" dirty="0"/>
          </a:p>
        </p:txBody>
      </p:sp>
      <p:sp>
        <p:nvSpPr>
          <p:cNvPr id="3" name="Marcador de pie de página 2">
            <a:extLst>
              <a:ext uri="{FF2B5EF4-FFF2-40B4-BE49-F238E27FC236}">
                <a16:creationId xmlns:a16="http://schemas.microsoft.com/office/drawing/2014/main" id="{4543EBDF-D696-42F7-B962-56F5FEE120CC}"/>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7989DE91-7A80-4682-9D32-2CD41DEFB7B2}"/>
              </a:ext>
            </a:extLst>
          </p:cNvPr>
          <p:cNvSpPr>
            <a:spLocks noGrp="1"/>
          </p:cNvSpPr>
          <p:nvPr>
            <p:ph type="dt" sz="half" idx="10"/>
          </p:nvPr>
        </p:nvSpPr>
        <p:spPr/>
        <p:txBody>
          <a:bodyPr rtlCol="0"/>
          <a:lstStyle/>
          <a:p>
            <a:pPr rtl="0"/>
            <a:fld id="{FA5B45D9-35B1-4184-8C71-E0506363883B}" type="datetime1">
              <a:rPr lang="es-ES" noProof="0" smtClean="0"/>
              <a:t>04/12/2025</a:t>
            </a:fld>
            <a:endParaRPr lang="es-ES" noProof="0" dirty="0"/>
          </a:p>
        </p:txBody>
      </p:sp>
      <p:sp>
        <p:nvSpPr>
          <p:cNvPr id="6" name="Marcador de pie de página 5">
            <a:extLst>
              <a:ext uri="{FF2B5EF4-FFF2-40B4-BE49-F238E27FC236}">
                <a16:creationId xmlns:a16="http://schemas.microsoft.com/office/drawing/2014/main" id="{7B9E2482-2E7D-4868-95A7-4A55B40FECE1}"/>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CAD1E234-1CB2-41A0-B40D-7E7F160CBA11}"/>
              </a:ext>
            </a:extLst>
          </p:cNvPr>
          <p:cNvSpPr>
            <a:spLocks noGrp="1"/>
          </p:cNvSpPr>
          <p:nvPr>
            <p:ph type="dt" sz="half" idx="10"/>
          </p:nvPr>
        </p:nvSpPr>
        <p:spPr/>
        <p:txBody>
          <a:bodyPr rtlCol="0"/>
          <a:lstStyle/>
          <a:p>
            <a:pPr rtl="0"/>
            <a:fld id="{F6BD2F12-55B2-4258-9B7A-329D8EBE60F6}" type="datetime1">
              <a:rPr lang="es-ES" noProof="0" smtClean="0"/>
              <a:t>04/12/2025</a:t>
            </a:fld>
            <a:endParaRPr lang="es-ES" noProof="0" dirty="0"/>
          </a:p>
        </p:txBody>
      </p:sp>
      <p:sp>
        <p:nvSpPr>
          <p:cNvPr id="6" name="Marcador de pie de página 5">
            <a:extLst>
              <a:ext uri="{FF2B5EF4-FFF2-40B4-BE49-F238E27FC236}">
                <a16:creationId xmlns:a16="http://schemas.microsoft.com/office/drawing/2014/main" id="{99FD472E-6334-4051-B4D9-6361A819F792}"/>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n con tres secciones">
    <p:spTree>
      <p:nvGrpSpPr>
        <p:cNvPr id="1" name=""/>
        <p:cNvGrpSpPr/>
        <p:nvPr/>
      </p:nvGrpSpPr>
      <p:grpSpPr>
        <a:xfrm>
          <a:off x="0" y="0"/>
          <a:ext cx="0" cy="0"/>
          <a:chOff x="0" y="0"/>
          <a:chExt cx="0" cy="0"/>
        </a:xfrm>
      </p:grpSpPr>
      <p:sp>
        <p:nvSpPr>
          <p:cNvPr id="8" name="objeto 3">
            <a:extLst>
              <a:ext uri="{FF2B5EF4-FFF2-40B4-BE49-F238E27FC236}">
                <a16:creationId xmlns:a16="http://schemas.microsoft.com/office/drawing/2014/main" id="{29F16048-FF4E-41B1-B3D4-0FB210A70DF2}"/>
              </a:ext>
            </a:extLst>
          </p:cNvPr>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pPr rtl="0"/>
            <a:endParaRPr lang="es-ES" noProof="0" dirty="0"/>
          </a:p>
        </p:txBody>
      </p:sp>
      <p:sp>
        <p:nvSpPr>
          <p:cNvPr id="11" name="Elipse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rtlCol="0" anchor="b"/>
          <a:lstStyle>
            <a:lvl1pPr>
              <a:defRPr sz="3200"/>
            </a:lvl1pPr>
          </a:lstStyle>
          <a:p>
            <a:pPr rtl="0"/>
            <a:r>
              <a:rPr lang="es-ES" noProof="0"/>
              <a:t>Haga clic para modificar el estilo de título del patrón</a:t>
            </a:r>
            <a:endParaRPr lang="es-ES" noProof="0" dirty="0"/>
          </a:p>
        </p:txBody>
      </p:sp>
      <p:sp>
        <p:nvSpPr>
          <p:cNvPr id="4" name="Marcador de posición de texto 3">
            <a:extLst>
              <a:ext uri="{FF2B5EF4-FFF2-40B4-BE49-F238E27FC236}">
                <a16:creationId xmlns:a16="http://schemas.microsoft.com/office/drawing/2014/main" id="{EA79774D-36EB-4201-B1AC-922DD2E06640}"/>
              </a:ext>
            </a:extLst>
          </p:cNvPr>
          <p:cNvSpPr>
            <a:spLocks noGrp="1"/>
          </p:cNvSpPr>
          <p:nvPr>
            <p:ph type="body" sz="half" idx="2"/>
          </p:nvPr>
        </p:nvSpPr>
        <p:spPr>
          <a:xfrm>
            <a:off x="7294251" y="1192697"/>
            <a:ext cx="4057961" cy="1431234"/>
          </a:xfrm>
        </p:spPr>
        <p:txBody>
          <a:bodyPr rtlCol="0"/>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CAD1E234-1CB2-41A0-B40D-7E7F160CBA11}"/>
              </a:ext>
            </a:extLst>
          </p:cNvPr>
          <p:cNvSpPr>
            <a:spLocks noGrp="1"/>
          </p:cNvSpPr>
          <p:nvPr>
            <p:ph type="dt" sz="half" idx="10"/>
          </p:nvPr>
        </p:nvSpPr>
        <p:spPr/>
        <p:txBody>
          <a:bodyPr rtlCol="0"/>
          <a:lstStyle/>
          <a:p>
            <a:pPr rtl="0"/>
            <a:fld id="{DD513E22-D62D-48EB-8163-1F3BECD4176E}" type="datetime1">
              <a:rPr lang="es-ES" noProof="0" smtClean="0"/>
              <a:t>04/12/2025</a:t>
            </a:fld>
            <a:endParaRPr lang="es-ES" noProof="0" dirty="0"/>
          </a:p>
        </p:txBody>
      </p:sp>
      <p:sp>
        <p:nvSpPr>
          <p:cNvPr id="6" name="Marcador de pie de página 5">
            <a:extLst>
              <a:ext uri="{FF2B5EF4-FFF2-40B4-BE49-F238E27FC236}">
                <a16:creationId xmlns:a16="http://schemas.microsoft.com/office/drawing/2014/main" id="{99FD472E-6334-4051-B4D9-6361A819F792}"/>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
        <p:nvSpPr>
          <p:cNvPr id="9" name="objeto 2">
            <a:extLst>
              <a:ext uri="{FF2B5EF4-FFF2-40B4-BE49-F238E27FC236}">
                <a16:creationId xmlns:a16="http://schemas.microsoft.com/office/drawing/2014/main" id="{9337951D-6DB6-4713-9200-E8513CDEB6B3}"/>
              </a:ext>
            </a:extLst>
          </p:cNvPr>
          <p:cNvSpPr/>
          <p:nvPr userDrawn="1"/>
        </p:nvSpPr>
        <p:spPr>
          <a:xfrm>
            <a:off x="0" y="2430411"/>
            <a:ext cx="362585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accent1"/>
          </a:solidFill>
        </p:spPr>
        <p:txBody>
          <a:bodyPr wrap="square" lIns="0" tIns="0" rIns="0" bIns="0" rtlCol="0"/>
          <a:lstStyle/>
          <a:p>
            <a:pPr rtl="0"/>
            <a:endParaRPr lang="es-ES" noProof="0" dirty="0"/>
          </a:p>
        </p:txBody>
      </p:sp>
      <p:sp>
        <p:nvSpPr>
          <p:cNvPr id="3" name="Marcador de posición de imagen 2">
            <a:extLst>
              <a:ext uri="{FF2B5EF4-FFF2-40B4-BE49-F238E27FC236}">
                <a16:creationId xmlns:a16="http://schemas.microsoft.com/office/drawing/2014/main" id="{8D44B7CE-2038-4CCA-AA8A-D03DE5FD956E}"/>
              </a:ext>
            </a:extLst>
          </p:cNvPr>
          <p:cNvSpPr>
            <a:spLocks noGrp="1"/>
          </p:cNvSpPr>
          <p:nvPr>
            <p:ph type="pic" idx="1"/>
          </p:nvPr>
        </p:nvSpPr>
        <p:spPr>
          <a:xfrm>
            <a:off x="0" y="2781223"/>
            <a:ext cx="6040800" cy="2736901"/>
          </a:xfrm>
        </p:spPr>
        <p:txBody>
          <a:bodyPr rtlCol="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12" name="Marcador de posición de imagen 28">
            <a:extLst>
              <a:ext uri="{FF2B5EF4-FFF2-40B4-BE49-F238E27FC236}">
                <a16:creationId xmlns:a16="http://schemas.microsoft.com/office/drawing/2014/main" id="{2EB2F967-97B6-4CA8-B3E7-5FF7CA2BDD8C}"/>
              </a:ext>
            </a:extLst>
          </p:cNvPr>
          <p:cNvSpPr>
            <a:spLocks noGrp="1"/>
          </p:cNvSpPr>
          <p:nvPr>
            <p:ph type="pic" sz="quarter" idx="19"/>
          </p:nvPr>
        </p:nvSpPr>
        <p:spPr>
          <a:xfrm>
            <a:off x="6586106" y="1188012"/>
            <a:ext cx="376237" cy="376237"/>
          </a:xfrm>
        </p:spPr>
        <p:txBody>
          <a:bodyPr rtlCol="0">
            <a:normAutofit/>
          </a:bodyPr>
          <a:lstStyle>
            <a:lvl1pPr marL="0" indent="0" algn="ctr">
              <a:buNone/>
              <a:defRPr sz="400"/>
            </a:lvl1pPr>
          </a:lstStyle>
          <a:p>
            <a:pPr rtl="0"/>
            <a:r>
              <a:rPr lang="es-ES" noProof="0"/>
              <a:t>Haga clic en el icono para agregar una imagen</a:t>
            </a:r>
            <a:endParaRPr lang="es-ES" noProof="0" dirty="0"/>
          </a:p>
        </p:txBody>
      </p:sp>
      <p:sp>
        <p:nvSpPr>
          <p:cNvPr id="13" name="Marcador de posición de imagen 28">
            <a:extLst>
              <a:ext uri="{FF2B5EF4-FFF2-40B4-BE49-F238E27FC236}">
                <a16:creationId xmlns:a16="http://schemas.microsoft.com/office/drawing/2014/main" id="{5E78E133-FE09-456A-8463-9EFAC6ADE26B}"/>
              </a:ext>
            </a:extLst>
          </p:cNvPr>
          <p:cNvSpPr>
            <a:spLocks noGrp="1"/>
          </p:cNvSpPr>
          <p:nvPr>
            <p:ph type="pic" sz="quarter" idx="22"/>
          </p:nvPr>
        </p:nvSpPr>
        <p:spPr>
          <a:xfrm>
            <a:off x="6586106" y="2878015"/>
            <a:ext cx="376237" cy="376237"/>
          </a:xfrm>
        </p:spPr>
        <p:txBody>
          <a:bodyPr rtlCol="0">
            <a:normAutofit/>
          </a:bodyPr>
          <a:lstStyle>
            <a:lvl1pPr marL="0" indent="0" algn="ctr">
              <a:buNone/>
              <a:defRPr sz="400"/>
            </a:lvl1pPr>
          </a:lstStyle>
          <a:p>
            <a:pPr rtl="0"/>
            <a:r>
              <a:rPr lang="es-ES" noProof="0"/>
              <a:t>Haga clic en el icono para agregar una imagen</a:t>
            </a:r>
            <a:endParaRPr lang="es-ES" noProof="0" dirty="0"/>
          </a:p>
        </p:txBody>
      </p:sp>
      <p:sp>
        <p:nvSpPr>
          <p:cNvPr id="14" name="Marcador de posición de texto 3">
            <a:extLst>
              <a:ext uri="{FF2B5EF4-FFF2-40B4-BE49-F238E27FC236}">
                <a16:creationId xmlns:a16="http://schemas.microsoft.com/office/drawing/2014/main" id="{7F0C3496-EA4B-43E5-9704-968F80A8552C}"/>
              </a:ext>
            </a:extLst>
          </p:cNvPr>
          <p:cNvSpPr>
            <a:spLocks noGrp="1"/>
          </p:cNvSpPr>
          <p:nvPr>
            <p:ph type="body" sz="half" idx="23"/>
          </p:nvPr>
        </p:nvSpPr>
        <p:spPr>
          <a:xfrm>
            <a:off x="7294250" y="2880357"/>
            <a:ext cx="4057961" cy="1431234"/>
          </a:xfrm>
        </p:spPr>
        <p:txBody>
          <a:bodyPr rtlCol="0"/>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15" name="Marcador de posición de imagen 28">
            <a:extLst>
              <a:ext uri="{FF2B5EF4-FFF2-40B4-BE49-F238E27FC236}">
                <a16:creationId xmlns:a16="http://schemas.microsoft.com/office/drawing/2014/main" id="{13414E14-9FEB-40F8-AE6E-319637A8F1CB}"/>
              </a:ext>
            </a:extLst>
          </p:cNvPr>
          <p:cNvSpPr>
            <a:spLocks noGrp="1"/>
          </p:cNvSpPr>
          <p:nvPr>
            <p:ph type="pic" sz="quarter" idx="24"/>
          </p:nvPr>
        </p:nvSpPr>
        <p:spPr>
          <a:xfrm>
            <a:off x="6586106" y="4568018"/>
            <a:ext cx="376237" cy="376237"/>
          </a:xfrm>
        </p:spPr>
        <p:txBody>
          <a:bodyPr rtlCol="0">
            <a:normAutofit/>
          </a:bodyPr>
          <a:lstStyle>
            <a:lvl1pPr marL="0" indent="0" algn="ctr">
              <a:buNone/>
              <a:defRPr sz="400"/>
            </a:lvl1pPr>
          </a:lstStyle>
          <a:p>
            <a:pPr rtl="0"/>
            <a:r>
              <a:rPr lang="es-ES" noProof="0"/>
              <a:t>Haga clic en el icono para agregar una imagen</a:t>
            </a:r>
            <a:endParaRPr lang="es-ES" noProof="0" dirty="0"/>
          </a:p>
        </p:txBody>
      </p:sp>
      <p:sp>
        <p:nvSpPr>
          <p:cNvPr id="16" name="Marcador de posición de texto 3">
            <a:extLst>
              <a:ext uri="{FF2B5EF4-FFF2-40B4-BE49-F238E27FC236}">
                <a16:creationId xmlns:a16="http://schemas.microsoft.com/office/drawing/2014/main" id="{8EC97C88-8B4C-4665-845B-95CE8F237779}"/>
              </a:ext>
            </a:extLst>
          </p:cNvPr>
          <p:cNvSpPr>
            <a:spLocks noGrp="1"/>
          </p:cNvSpPr>
          <p:nvPr>
            <p:ph type="body" sz="half" idx="25"/>
          </p:nvPr>
        </p:nvSpPr>
        <p:spPr>
          <a:xfrm>
            <a:off x="7294250" y="4568018"/>
            <a:ext cx="4057961" cy="1431234"/>
          </a:xfrm>
        </p:spPr>
        <p:txBody>
          <a:bodyPr rtlCol="0"/>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Tree>
    <p:extLst>
      <p:ext uri="{BB962C8B-B14F-4D97-AF65-F5344CB8AC3E}">
        <p14:creationId xmlns:p14="http://schemas.microsoft.com/office/powerpoint/2010/main" val="3856490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38414F15-D7D0-4AAB-BCEA-8D737141E1BB}" type="datetime1">
              <a:rPr lang="es-ES" noProof="0" smtClean="0"/>
              <a:t>04/12/2025</a:t>
            </a:fld>
            <a:endParaRPr lang="es-ES" noProof="0" dirty="0"/>
          </a:p>
        </p:txBody>
      </p:sp>
      <p:sp>
        <p:nvSpPr>
          <p:cNvPr id="5" name="Marcador de pie de página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10" name="Elipse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6" name="Marcador de posición de número de diapositiva 5">
            <a:extLst>
              <a:ext uri="{FF2B5EF4-FFF2-40B4-BE49-F238E27FC236}">
                <a16:creationId xmlns:a16="http://schemas.microsoft.com/office/drawing/2014/main" id="{D15DEFFD-817B-43EC-86F0-34DEA2BA5EEB}"/>
              </a:ext>
            </a:extLst>
          </p:cNvPr>
          <p:cNvSpPr>
            <a:spLocks noGrp="1"/>
          </p:cNvSpPr>
          <p:nvPr>
            <p:ph type="sldNum" sz="quarter" idx="4"/>
          </p:nvPr>
        </p:nvSpPr>
        <p:spPr>
          <a:xfrm>
            <a:off x="11453346"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pPr rtl="0"/>
            <a:fld id="{82EE24B5-652C-4DB5-B7C3-B5BBEC1280B1}" type="slidenum">
              <a:rPr lang="es-ES" noProof="0" smtClean="0"/>
              <a:pPr rtl="0"/>
              <a:t>‹Nº›</a:t>
            </a:fld>
            <a:endParaRPr lang="es-E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2" r:id="rId10"/>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to 2" descr="Rectángulo azul">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pPr rtl="0"/>
            <a:endParaRPr lang="es-ES" dirty="0"/>
          </a:p>
        </p:txBody>
      </p:sp>
      <p:sp>
        <p:nvSpPr>
          <p:cNvPr id="4" name="objeto 3" descr="Personas con documentos">
            <a:extLst>
              <a:ext uri="{FF2B5EF4-FFF2-40B4-BE49-F238E27FC236}">
                <a16:creationId xmlns:a16="http://schemas.microsoft.com/office/drawing/2014/main" id="{0CA2E80D-F3EC-4A5F-8E65-56FEA206EE0F}"/>
              </a:ext>
            </a:extLst>
          </p:cNvPr>
          <p:cNvSpPr/>
          <p:nvPr/>
        </p:nvSpPr>
        <p:spPr>
          <a:xfrm>
            <a:off x="127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pPr rtl="0"/>
            <a:endParaRPr lang="es-ES" dirty="0"/>
          </a:p>
        </p:txBody>
      </p:sp>
      <p:sp>
        <p:nvSpPr>
          <p:cNvPr id="2" name="Título 1">
            <a:extLst>
              <a:ext uri="{FF2B5EF4-FFF2-40B4-BE49-F238E27FC236}">
                <a16:creationId xmlns:a16="http://schemas.microsoft.com/office/drawing/2014/main" id="{AFB6C91D-4B22-49F1-9A0B-ABEB9E1F5A26}"/>
              </a:ext>
            </a:extLst>
          </p:cNvPr>
          <p:cNvSpPr>
            <a:spLocks noGrp="1"/>
          </p:cNvSpPr>
          <p:nvPr>
            <p:ph type="ctrTitle"/>
          </p:nvPr>
        </p:nvSpPr>
        <p:spPr>
          <a:xfrm>
            <a:off x="1524000" y="2008518"/>
            <a:ext cx="9144000" cy="2128049"/>
          </a:xfrm>
        </p:spPr>
        <p:txBody>
          <a:bodyPr rtlCol="0">
            <a:normAutofit fontScale="90000"/>
          </a:bodyPr>
          <a:lstStyle/>
          <a:p>
            <a:r>
              <a:rPr lang="es-ES" sz="5000" dirty="0">
                <a:solidFill>
                  <a:schemeClr val="bg1"/>
                </a:solidFill>
                <a:latin typeface="Gill Sans MT" panose="020B0502020104020203" pitchFamily="34" charset="0"/>
              </a:rPr>
              <a:t>RECONOCIMIENTO DE ORO</a:t>
            </a:r>
            <a:br>
              <a:rPr lang="es-ES" sz="5000" dirty="0">
                <a:solidFill>
                  <a:schemeClr val="bg1"/>
                </a:solidFill>
                <a:latin typeface="Gill Sans MT" panose="020B0502020104020203" pitchFamily="34" charset="0"/>
              </a:rPr>
            </a:br>
            <a:r>
              <a:rPr lang="es-ES" sz="5000" dirty="0">
                <a:latin typeface="Gill Sans MT" panose="020B0502020104020203" pitchFamily="34" charset="0"/>
              </a:rPr>
              <a:t>Pasos para reconocer el oro.</a:t>
            </a:r>
            <a:endParaRPr lang="es-ES" sz="5000" dirty="0">
              <a:solidFill>
                <a:schemeClr val="bg1"/>
              </a:solidFill>
              <a:latin typeface="Gill Sans MT" panose="020B0502020104020203" pitchFamily="34" charset="0"/>
            </a:endParaRPr>
          </a:p>
        </p:txBody>
      </p:sp>
      <p:sp>
        <p:nvSpPr>
          <p:cNvPr id="6" name="objeto 7" descr="Rectángulo beige">
            <a:extLst>
              <a:ext uri="{FF2B5EF4-FFF2-40B4-BE49-F238E27FC236}">
                <a16:creationId xmlns:a16="http://schemas.microsoft.com/office/drawing/2014/main" id="{B36975AA-C62E-46BE-9382-E2CF56FDF817}"/>
              </a:ext>
            </a:extLst>
          </p:cNvPr>
          <p:cNvSpPr/>
          <p:nvPr/>
        </p:nvSpPr>
        <p:spPr>
          <a:xfrm>
            <a:off x="3421769" y="3229869"/>
            <a:ext cx="536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es-ES" dirty="0"/>
          </a:p>
        </p:txBody>
      </p:sp>
      <p:sp>
        <p:nvSpPr>
          <p:cNvPr id="8" name="Subtítulo 7">
            <a:extLst>
              <a:ext uri="{FF2B5EF4-FFF2-40B4-BE49-F238E27FC236}">
                <a16:creationId xmlns:a16="http://schemas.microsoft.com/office/drawing/2014/main" id="{1BAFA739-3908-4D6F-9A69-0DF7E3744BBA}"/>
              </a:ext>
            </a:extLst>
          </p:cNvPr>
          <p:cNvSpPr>
            <a:spLocks noGrp="1"/>
          </p:cNvSpPr>
          <p:nvPr>
            <p:ph type="subTitle" idx="1"/>
          </p:nvPr>
        </p:nvSpPr>
        <p:spPr/>
        <p:txBody>
          <a:bodyPr/>
          <a:lstStyle/>
          <a:p>
            <a:r>
              <a:rPr lang="es-MX" dirty="0"/>
              <a:t>Bienvenidos</a:t>
            </a:r>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7" descr="Hombre hablando por teléfono">
            <a:extLst>
              <a:ext uri="{FF2B5EF4-FFF2-40B4-BE49-F238E27FC236}">
                <a16:creationId xmlns:a16="http://schemas.microsoft.com/office/drawing/2014/main"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to 3" descr="Rectángulo beige">
            <a:extLst>
              <a:ext uri="{FF2B5EF4-FFF2-40B4-BE49-F238E27FC236}">
                <a16:creationId xmlns:a16="http://schemas.microsoft.com/office/drawing/2014/main"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pPr rtl="0"/>
            <a:endParaRPr lang="es-ES" dirty="0"/>
          </a:p>
        </p:txBody>
      </p:sp>
      <p:sp>
        <p:nvSpPr>
          <p:cNvPr id="6" name="objeto 6" descr="Rectángulo azul">
            <a:extLst>
              <a:ext uri="{FF2B5EF4-FFF2-40B4-BE49-F238E27FC236}">
                <a16:creationId xmlns:a16="http://schemas.microsoft.com/office/drawing/2014/main" id="{9FABC344-E043-45BE-8588-06C658DBCE70}"/>
              </a:ext>
            </a:extLst>
          </p:cNvPr>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pPr rtl="0"/>
            <a:endParaRPr lang="es-ES" dirty="0"/>
          </a:p>
        </p:txBody>
      </p:sp>
      <p:sp>
        <p:nvSpPr>
          <p:cNvPr id="2" name="Título 1">
            <a:extLst>
              <a:ext uri="{FF2B5EF4-FFF2-40B4-BE49-F238E27FC236}">
                <a16:creationId xmlns:a16="http://schemas.microsoft.com/office/drawing/2014/main" id="{345C5720-51D4-4632-91CD-936B8AB96750}"/>
              </a:ext>
            </a:extLst>
          </p:cNvPr>
          <p:cNvSpPr>
            <a:spLocks noGrp="1"/>
          </p:cNvSpPr>
          <p:nvPr>
            <p:ph type="title"/>
          </p:nvPr>
        </p:nvSpPr>
        <p:spPr>
          <a:xfrm>
            <a:off x="6207698" y="2331086"/>
            <a:ext cx="5165558" cy="833856"/>
          </a:xfrm>
        </p:spPr>
        <p:txBody>
          <a:bodyPr rtlCol="0"/>
          <a:lstStyle/>
          <a:p>
            <a:pPr rtl="0"/>
            <a:r>
              <a:rPr lang="es-ES" dirty="0">
                <a:solidFill>
                  <a:schemeClr val="bg1"/>
                </a:solidFill>
                <a:latin typeface="Gill Sans MT" panose="020B0502020104020203" pitchFamily="34" charset="0"/>
              </a:rPr>
              <a:t>Objetivo</a:t>
            </a:r>
            <a:endParaRPr lang="es-ES" dirty="0">
              <a:latin typeface="Gill Sans MT" panose="020B0502020104020203" pitchFamily="34" charset="0"/>
            </a:endParaRPr>
          </a:p>
        </p:txBody>
      </p:sp>
      <p:sp>
        <p:nvSpPr>
          <p:cNvPr id="3" name="Marcador de número de diapositiva 2">
            <a:extLst>
              <a:ext uri="{FF2B5EF4-FFF2-40B4-BE49-F238E27FC236}">
                <a16:creationId xmlns:a16="http://schemas.microsoft.com/office/drawing/2014/main" id="{24D506CC-0185-443E-82C7-1600C21D6E91}"/>
              </a:ext>
            </a:extLst>
          </p:cNvPr>
          <p:cNvSpPr>
            <a:spLocks noGrp="1"/>
          </p:cNvSpPr>
          <p:nvPr>
            <p:ph type="sldNum" sz="quarter" idx="12"/>
          </p:nvPr>
        </p:nvSpPr>
        <p:spPr/>
        <p:txBody>
          <a:bodyPr rtlCol="0"/>
          <a:lstStyle/>
          <a:p>
            <a:pPr rtl="0"/>
            <a:fld id="{82EE24B5-652C-4DB5-B7C3-B5BBEC1280B1}" type="slidenum">
              <a:rPr lang="es-ES" smtClean="0"/>
              <a:t>2</a:t>
            </a:fld>
            <a:endParaRPr lang="es-ES" dirty="0"/>
          </a:p>
        </p:txBody>
      </p:sp>
      <p:sp>
        <p:nvSpPr>
          <p:cNvPr id="7" name="objeto 9" descr="Rectángulo beige">
            <a:extLst>
              <a:ext uri="{FF2B5EF4-FFF2-40B4-BE49-F238E27FC236}">
                <a16:creationId xmlns:a16="http://schemas.microsoft.com/office/drawing/2014/main" id="{02C6628C-972C-4717-AAF3-D882B30F6658}"/>
              </a:ext>
            </a:extLst>
          </p:cNvPr>
          <p:cNvSpPr/>
          <p:nvPr/>
        </p:nvSpPr>
        <p:spPr>
          <a:xfrm>
            <a:off x="6313932" y="3035554"/>
            <a:ext cx="460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pPr rtl="0"/>
            <a:endParaRPr lang="es-ES" dirty="0"/>
          </a:p>
        </p:txBody>
      </p:sp>
      <p:sp>
        <p:nvSpPr>
          <p:cNvPr id="9" name="Marcador de contenido 3">
            <a:extLst>
              <a:ext uri="{FF2B5EF4-FFF2-40B4-BE49-F238E27FC236}">
                <a16:creationId xmlns:a16="http://schemas.microsoft.com/office/drawing/2014/main" id="{E7A818AB-B120-41D5-88A6-933AB9CAAE68}"/>
              </a:ext>
            </a:extLst>
          </p:cNvPr>
          <p:cNvSpPr txBox="1">
            <a:spLocks/>
          </p:cNvSpPr>
          <p:nvPr/>
        </p:nvSpPr>
        <p:spPr>
          <a:xfrm>
            <a:off x="6188242" y="3217631"/>
            <a:ext cx="5181600" cy="1603375"/>
          </a:xfrm>
          <a:prstGeom prst="rect">
            <a:avLst/>
          </a:prstGeom>
        </p:spPr>
        <p:txBody>
          <a:bodyPr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rtl="0">
              <a:buNone/>
            </a:pPr>
            <a:r>
              <a:rPr lang="es-ES" sz="1800" i="1" spc="-25" dirty="0">
                <a:solidFill>
                  <a:schemeClr val="bg2">
                    <a:lumMod val="20000"/>
                    <a:lumOff val="80000"/>
                  </a:schemeClr>
                </a:solidFill>
                <a:latin typeface="Arial"/>
                <a:cs typeface="Arial"/>
              </a:rPr>
              <a:t>Cimentar los conocimientos, mediante el aprendizaje a los colaboradores, potenciar la determinación de ser tasadores de oro para un mejor diagnóstico.</a:t>
            </a:r>
          </a:p>
        </p:txBody>
      </p:sp>
    </p:spTree>
    <p:extLst>
      <p:ext uri="{BB962C8B-B14F-4D97-AF65-F5344CB8AC3E}">
        <p14:creationId xmlns:p14="http://schemas.microsoft.com/office/powerpoint/2010/main" val="179394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33131" y="-1"/>
            <a:ext cx="5493027" cy="1537253"/>
          </a:xfrm>
        </p:spPr>
        <p:style>
          <a:lnRef idx="0">
            <a:schemeClr val="accent2"/>
          </a:lnRef>
          <a:fillRef idx="3">
            <a:schemeClr val="accent2"/>
          </a:fillRef>
          <a:effectRef idx="3">
            <a:schemeClr val="accent2"/>
          </a:effectRef>
          <a:fontRef idx="minor">
            <a:schemeClr val="lt1"/>
          </a:fontRef>
        </p:style>
        <p:txBody>
          <a:bodyPr/>
          <a:lstStyle/>
          <a:p>
            <a:r>
              <a:rPr lang="es-EC" dirty="0"/>
              <a:t>TASACIONES </a:t>
            </a:r>
            <a:endParaRPr lang="es-EC" dirty="0">
              <a:solidFill>
                <a:schemeClr val="accent3">
                  <a:lumMod val="75000"/>
                  <a:lumOff val="25000"/>
                </a:schemeClr>
              </a:solidFill>
            </a:endParaRPr>
          </a:p>
        </p:txBody>
      </p:sp>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3</a:t>
            </a:fld>
            <a:endParaRPr lang="es-ES" noProof="0" dirty="0"/>
          </a:p>
        </p:txBody>
      </p:sp>
      <p:sp>
        <p:nvSpPr>
          <p:cNvPr id="7" name="Rectángulo 6"/>
          <p:cNvSpPr/>
          <p:nvPr/>
        </p:nvSpPr>
        <p:spPr>
          <a:xfrm>
            <a:off x="5526157" y="198783"/>
            <a:ext cx="6559825" cy="748923"/>
          </a:xfrm>
          <a:prstGeom prst="rect">
            <a:avLst/>
          </a:prstGeom>
        </p:spPr>
        <p:txBody>
          <a:bodyPr wrap="square">
            <a:spAutoFit/>
          </a:bodyPr>
          <a:lstStyle/>
          <a:p>
            <a:pPr algn="just" fontAlgn="base">
              <a:spcAft>
                <a:spcPts val="0"/>
              </a:spcAft>
            </a:pPr>
            <a:endParaRPr lang="es-EC" b="1" dirty="0">
              <a:latin typeface="Times New Roman" panose="02020603050405020304" pitchFamily="18" charset="0"/>
              <a:ea typeface="Times New Roman" panose="02020603050405020304" pitchFamily="18" charset="0"/>
            </a:endParaRPr>
          </a:p>
          <a:p>
            <a:pPr algn="just" fontAlgn="base">
              <a:spcBef>
                <a:spcPts val="750"/>
              </a:spcBef>
              <a:spcAft>
                <a:spcPts val="750"/>
              </a:spcAft>
            </a:pPr>
            <a:r>
              <a:rPr lang="es-EC" dirty="0">
                <a:solidFill>
                  <a:srgbClr val="000000"/>
                </a:solidFill>
                <a:latin typeface="Georgia" panose="02040502050405020303" pitchFamily="18" charset="0"/>
                <a:ea typeface="Calibri" panose="020F0502020204030204" pitchFamily="34" charset="0"/>
                <a:cs typeface="Arial" panose="020B0604020202020204" pitchFamily="34" charset="0"/>
              </a:rPr>
              <a:t>.</a:t>
            </a:r>
            <a:endParaRPr lang="es-EC"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69775"/>
            <a:ext cx="5526158" cy="3750364"/>
          </a:xfrm>
          <a:prstGeom prst="rect">
            <a:avLst/>
          </a:prstGeom>
        </p:spPr>
      </p:pic>
      <p:sp>
        <p:nvSpPr>
          <p:cNvPr id="16" name="Subtítulo 2">
            <a:extLst>
              <a:ext uri="{FF2B5EF4-FFF2-40B4-BE49-F238E27FC236}">
                <a16:creationId xmlns:a16="http://schemas.microsoft.com/office/drawing/2014/main" id="{2F8CF06A-B594-4BA2-8B1E-D649096D742F}"/>
              </a:ext>
            </a:extLst>
          </p:cNvPr>
          <p:cNvSpPr txBox="1">
            <a:spLocks/>
          </p:cNvSpPr>
          <p:nvPr/>
        </p:nvSpPr>
        <p:spPr>
          <a:xfrm>
            <a:off x="5526156" y="-1"/>
            <a:ext cx="6559825" cy="6858001"/>
          </a:xfrm>
          <a:prstGeom prst="rect">
            <a:avLst/>
          </a:prstGeom>
          <a:solidFill>
            <a:schemeClr val="accent2">
              <a:alpha val="90000"/>
            </a:schemeClr>
          </a:solidFill>
        </p:spPr>
        <p:txBody>
          <a:bodyPr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endParaRPr lang="es-EC" b="1" dirty="0">
              <a:solidFill>
                <a:schemeClr val="bg1"/>
              </a:solidFill>
            </a:endParaRPr>
          </a:p>
          <a:p>
            <a:pPr fontAlgn="base"/>
            <a:r>
              <a:rPr lang="es-EC" dirty="0">
                <a:solidFill>
                  <a:schemeClr val="bg1"/>
                </a:solidFill>
              </a:rPr>
              <a:t>Según el diccionario de la </a:t>
            </a:r>
            <a:r>
              <a:rPr lang="es-EC" b="1" dirty="0">
                <a:solidFill>
                  <a:schemeClr val="bg1"/>
                </a:solidFill>
              </a:rPr>
              <a:t>RAE </a:t>
            </a:r>
            <a:r>
              <a:rPr lang="es-EC" dirty="0">
                <a:solidFill>
                  <a:schemeClr val="bg1"/>
                </a:solidFill>
              </a:rPr>
              <a:t>una tasación es la graduación del precio o valor de una cosa o un trabajo. Por lo tanto, la tasación de una joya es el cálculo de su valor de mercado a través de un informe técnico y económico. Dentro de la amplitud de casos y circunstancias que se producen a lo largo del ejercicio profesional, el trabajo fundamental del tasador de alhajas suele ser la elaboración de un informe por escrito que contiene los detalles del análisis:</a:t>
            </a:r>
          </a:p>
          <a:p>
            <a:pPr lvl="0" fontAlgn="base"/>
            <a:r>
              <a:rPr lang="es-EC" dirty="0">
                <a:solidFill>
                  <a:schemeClr val="bg1"/>
                </a:solidFill>
              </a:rPr>
              <a:t>Inspección ocular y descripción detallada de la pieza.</a:t>
            </a:r>
          </a:p>
          <a:p>
            <a:pPr lvl="0" fontAlgn="base"/>
            <a:r>
              <a:rPr lang="es-EC" dirty="0">
                <a:solidFill>
                  <a:schemeClr val="bg1"/>
                </a:solidFill>
              </a:rPr>
              <a:t>Fotografías.</a:t>
            </a:r>
          </a:p>
          <a:p>
            <a:pPr lvl="0" fontAlgn="base"/>
            <a:r>
              <a:rPr lang="es-EC" dirty="0">
                <a:solidFill>
                  <a:schemeClr val="bg1"/>
                </a:solidFill>
              </a:rPr>
              <a:t>Análisis de los metales: su naturaleza, peso y ley.</a:t>
            </a:r>
          </a:p>
          <a:p>
            <a:pPr lvl="0" fontAlgn="base"/>
            <a:r>
              <a:rPr lang="es-EC" dirty="0">
                <a:solidFill>
                  <a:schemeClr val="bg1"/>
                </a:solidFill>
              </a:rPr>
              <a:t>Análisis gemológico de las piedras preciosas: naturaleza, medidas, peso y calidad, así como de otros materiales que pudiera contener.</a:t>
            </a:r>
          </a:p>
          <a:p>
            <a:pPr lvl="0" fontAlgn="base"/>
            <a:r>
              <a:rPr lang="es-EC" dirty="0">
                <a:solidFill>
                  <a:schemeClr val="bg1"/>
                </a:solidFill>
              </a:rPr>
              <a:t>Antigüedad, valor histórico documentado. Valor artístico o de autor. Marcas y contrastes.</a:t>
            </a:r>
          </a:p>
          <a:p>
            <a:r>
              <a:rPr lang="es-EC" dirty="0">
                <a:solidFill>
                  <a:schemeClr val="bg1"/>
                </a:solidFill>
              </a:rPr>
              <a:t>La emisión del certificado de autenticidad.</a:t>
            </a:r>
            <a:endParaRPr lang="es-ES" sz="2500" b="1" i="1" spc="65" dirty="0">
              <a:solidFill>
                <a:schemeClr val="bg1"/>
              </a:solidFill>
              <a:latin typeface="Arial"/>
              <a:cs typeface="Arial"/>
            </a:endParaRPr>
          </a:p>
        </p:txBody>
      </p:sp>
    </p:spTree>
    <p:extLst>
      <p:ext uri="{BB962C8B-B14F-4D97-AF65-F5344CB8AC3E}">
        <p14:creationId xmlns:p14="http://schemas.microsoft.com/office/powerpoint/2010/main" val="4082060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54379-12DC-488A-96E2-264D244A381B}"/>
              </a:ext>
            </a:extLst>
          </p:cNvPr>
          <p:cNvSpPr>
            <a:spLocks noGrp="1"/>
          </p:cNvSpPr>
          <p:nvPr>
            <p:ph type="title"/>
          </p:nvPr>
        </p:nvSpPr>
        <p:spPr>
          <a:xfrm>
            <a:off x="794587" y="438224"/>
            <a:ext cx="3932237" cy="1302111"/>
          </a:xfrm>
        </p:spPr>
        <p:txBody>
          <a:bodyPr rtlCol="0">
            <a:normAutofit fontScale="90000"/>
          </a:bodyPr>
          <a:lstStyle/>
          <a:p>
            <a:pPr rtl="0"/>
            <a:r>
              <a:rPr lang="es-ES" dirty="0"/>
              <a:t>PASOS PARA RECONOCIMIENTO DE ORO</a:t>
            </a:r>
          </a:p>
        </p:txBody>
      </p:sp>
      <p:sp>
        <p:nvSpPr>
          <p:cNvPr id="3" name="Marcador de texto 2">
            <a:extLst>
              <a:ext uri="{FF2B5EF4-FFF2-40B4-BE49-F238E27FC236}">
                <a16:creationId xmlns:a16="http://schemas.microsoft.com/office/drawing/2014/main" id="{18397F9A-0355-4091-BDD7-5C578348C1FB}"/>
              </a:ext>
            </a:extLst>
          </p:cNvPr>
          <p:cNvSpPr>
            <a:spLocks noGrp="1"/>
          </p:cNvSpPr>
          <p:nvPr>
            <p:ph type="body" sz="half" idx="2"/>
          </p:nvPr>
        </p:nvSpPr>
        <p:spPr>
          <a:xfrm>
            <a:off x="7046601" y="159026"/>
            <a:ext cx="4505012" cy="1554806"/>
          </a:xfrm>
        </p:spPr>
        <p:txBody>
          <a:bodyPr rtlCol="0">
            <a:normAutofit/>
          </a:bodyPr>
          <a:lstStyle/>
          <a:p>
            <a:pPr rtl="0">
              <a:lnSpc>
                <a:spcPct val="110000"/>
              </a:lnSpc>
              <a:spcBef>
                <a:spcPts val="400"/>
              </a:spcBef>
            </a:pPr>
            <a:r>
              <a:rPr lang="es-ES" sz="2200" b="1" dirty="0">
                <a:solidFill>
                  <a:schemeClr val="bg1"/>
                </a:solidFill>
                <a:latin typeface="+mj-lt"/>
              </a:rPr>
              <a:t>Paso 1</a:t>
            </a:r>
          </a:p>
          <a:p>
            <a:pPr rtl="0">
              <a:spcBef>
                <a:spcPts val="400"/>
              </a:spcBef>
            </a:pPr>
            <a:r>
              <a:rPr lang="es-US" sz="1500" i="1" spc="-15" dirty="0">
                <a:solidFill>
                  <a:schemeClr val="bg2">
                    <a:lumMod val="20000"/>
                    <a:lumOff val="80000"/>
                  </a:schemeClr>
                </a:solidFill>
                <a:cs typeface="Arial"/>
              </a:rPr>
              <a:t>Contar con las herramientas adecuadas para un testeo y reconocimiento más amplio, (piedra (afilar cuchillo), lija, limas y acido).</a:t>
            </a:r>
            <a:endParaRPr lang="es-ES" sz="1500" i="1" spc="-15" dirty="0">
              <a:solidFill>
                <a:schemeClr val="bg2">
                  <a:lumMod val="20000"/>
                  <a:lumOff val="80000"/>
                </a:schemeClr>
              </a:solidFill>
              <a:cs typeface="Arial"/>
            </a:endParaRPr>
          </a:p>
        </p:txBody>
      </p:sp>
      <p:sp>
        <p:nvSpPr>
          <p:cNvPr id="4" name="Marcador de número de diapositiva 3">
            <a:extLst>
              <a:ext uri="{FF2B5EF4-FFF2-40B4-BE49-F238E27FC236}">
                <a16:creationId xmlns:a16="http://schemas.microsoft.com/office/drawing/2014/main" id="{1330DBC9-EEFC-416D-BFAD-DB6D1A9E8CB2}"/>
              </a:ext>
            </a:extLst>
          </p:cNvPr>
          <p:cNvSpPr>
            <a:spLocks noGrp="1"/>
          </p:cNvSpPr>
          <p:nvPr>
            <p:ph type="sldNum" sz="quarter" idx="12"/>
          </p:nvPr>
        </p:nvSpPr>
        <p:spPr>
          <a:xfrm>
            <a:off x="11515338" y="6174902"/>
            <a:ext cx="357116" cy="365125"/>
          </a:xfrm>
        </p:spPr>
        <p:txBody>
          <a:bodyPr rtlCol="0"/>
          <a:lstStyle/>
          <a:p>
            <a:pPr algn="just" rtl="0"/>
            <a:fld id="{82EE24B5-652C-4DB5-B7C3-B5BBEC1280B1}" type="slidenum">
              <a:rPr lang="es-ES" smtClean="0"/>
              <a:pPr algn="just" rtl="0"/>
              <a:t>4</a:t>
            </a:fld>
            <a:endParaRPr lang="es-ES" dirty="0"/>
          </a:p>
        </p:txBody>
      </p:sp>
      <p:pic>
        <p:nvPicPr>
          <p:cNvPr id="16" name="Marcador de posición de imagen 15" descr="Grupo de personas">
            <a:extLst>
              <a:ext uri="{FF2B5EF4-FFF2-40B4-BE49-F238E27FC236}">
                <a16:creationId xmlns:a16="http://schemas.microsoft.com/office/drawing/2014/main" id="{48FA199D-A4E2-45BF-978A-675A900780A0}"/>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0" y="2781319"/>
            <a:ext cx="6024562" cy="2736709"/>
          </a:xfrm>
        </p:spPr>
      </p:pic>
      <p:sp>
        <p:nvSpPr>
          <p:cNvPr id="8" name="Marcador de texto 7">
            <a:extLst>
              <a:ext uri="{FF2B5EF4-FFF2-40B4-BE49-F238E27FC236}">
                <a16:creationId xmlns:a16="http://schemas.microsoft.com/office/drawing/2014/main" id="{0D9263D0-7B10-45A1-AD9E-D040B170EFE2}"/>
              </a:ext>
            </a:extLst>
          </p:cNvPr>
          <p:cNvSpPr>
            <a:spLocks noGrp="1"/>
          </p:cNvSpPr>
          <p:nvPr>
            <p:ph type="body" sz="half" idx="23"/>
          </p:nvPr>
        </p:nvSpPr>
        <p:spPr>
          <a:xfrm>
            <a:off x="7046600" y="1457739"/>
            <a:ext cx="4422244" cy="3763618"/>
          </a:xfrm>
        </p:spPr>
        <p:txBody>
          <a:bodyPr rtlCol="0">
            <a:normAutofit fontScale="32500" lnSpcReduction="20000"/>
          </a:bodyPr>
          <a:lstStyle/>
          <a:p>
            <a:pPr rtl="0">
              <a:lnSpc>
                <a:spcPct val="130000"/>
              </a:lnSpc>
              <a:spcBef>
                <a:spcPts val="400"/>
              </a:spcBef>
            </a:pPr>
            <a:r>
              <a:rPr lang="es-ES" sz="3800" b="1" dirty="0">
                <a:solidFill>
                  <a:schemeClr val="bg1"/>
                </a:solidFill>
                <a:latin typeface="+mj-lt"/>
              </a:rPr>
              <a:t>Paso 2</a:t>
            </a:r>
          </a:p>
          <a:p>
            <a:r>
              <a:rPr lang="es-EC" sz="4600" i="1" dirty="0"/>
              <a:t>para comprobar si una pieza es de oro o no, es observarlo minuciosamente. Normalmente </a:t>
            </a:r>
            <a:r>
              <a:rPr lang="es-EC" sz="4600" b="1" i="1" dirty="0"/>
              <a:t>las piezas de oro tienen una marca que indica la pureza</a:t>
            </a:r>
            <a:r>
              <a:rPr lang="es-EC" sz="4600" i="1" dirty="0"/>
              <a:t> de éste </a:t>
            </a:r>
            <a:r>
              <a:rPr lang="es-EC" sz="4600" b="1" i="1" dirty="0"/>
              <a:t>o los quilates</a:t>
            </a:r>
            <a:r>
              <a:rPr lang="es-EC" sz="4600" i="1" dirty="0"/>
              <a:t> que tiene. </a:t>
            </a:r>
          </a:p>
          <a:p>
            <a:r>
              <a:rPr lang="es-EC" sz="4600" i="1" dirty="0"/>
              <a:t>Si no encontramos la marca grabada que nos indica que la pieza es de oro, posiblemente se haya desgastado o sea una pieza falsa. ¡Ojo! </a:t>
            </a:r>
            <a:r>
              <a:rPr lang="es-EC" sz="4600" b="1" i="1" dirty="0"/>
              <a:t>el hecho de que exista ese grabado no indica al 100% que la pieza sea auténtica</a:t>
            </a:r>
            <a:r>
              <a:rPr lang="es-EC" sz="4600" i="1" dirty="0"/>
              <a:t>, las piezas falsas a veces incluyen también este grabado para engañar al futuro comprador.</a:t>
            </a:r>
          </a:p>
          <a:p>
            <a:r>
              <a:rPr lang="es-EC" sz="4600" i="1" dirty="0"/>
              <a:t>La siguiente comprobación que debemos hacer es que </a:t>
            </a:r>
            <a:r>
              <a:rPr lang="es-EC" sz="4600" b="1" i="1" dirty="0"/>
              <a:t>el color del oro sea uniforme</a:t>
            </a:r>
            <a:r>
              <a:rPr lang="es-EC" sz="4600" i="1" dirty="0"/>
              <a:t> y no existan signos en las zonas de más desgaste de la aparición de otro color de metal</a:t>
            </a:r>
            <a:r>
              <a:rPr lang="es-EC" sz="4600" dirty="0"/>
              <a:t>.</a:t>
            </a:r>
          </a:p>
          <a:p>
            <a:pPr rtl="0">
              <a:lnSpc>
                <a:spcPct val="110000"/>
              </a:lnSpc>
              <a:spcBef>
                <a:spcPts val="400"/>
              </a:spcBef>
            </a:pPr>
            <a:endParaRPr lang="es-ES" sz="4600" i="1" spc="-15" dirty="0">
              <a:solidFill>
                <a:schemeClr val="bg2">
                  <a:lumMod val="20000"/>
                  <a:lumOff val="80000"/>
                </a:schemeClr>
              </a:solidFill>
              <a:cs typeface="Arial"/>
            </a:endParaRPr>
          </a:p>
        </p:txBody>
      </p:sp>
      <p:sp>
        <p:nvSpPr>
          <p:cNvPr id="10" name="Marcador de texto 9">
            <a:extLst>
              <a:ext uri="{FF2B5EF4-FFF2-40B4-BE49-F238E27FC236}">
                <a16:creationId xmlns:a16="http://schemas.microsoft.com/office/drawing/2014/main" id="{9884D43A-F693-45B5-941E-26162517B9A6}"/>
              </a:ext>
            </a:extLst>
          </p:cNvPr>
          <p:cNvSpPr>
            <a:spLocks noGrp="1"/>
          </p:cNvSpPr>
          <p:nvPr>
            <p:ph type="body" sz="half" idx="25"/>
          </p:nvPr>
        </p:nvSpPr>
        <p:spPr>
          <a:xfrm>
            <a:off x="7046600" y="5035826"/>
            <a:ext cx="4505012" cy="1504200"/>
          </a:xfrm>
        </p:spPr>
        <p:txBody>
          <a:bodyPr rtlCol="0">
            <a:normAutofit/>
          </a:bodyPr>
          <a:lstStyle/>
          <a:p>
            <a:pPr rtl="0">
              <a:lnSpc>
                <a:spcPct val="110000"/>
              </a:lnSpc>
              <a:spcBef>
                <a:spcPts val="400"/>
              </a:spcBef>
            </a:pPr>
            <a:r>
              <a:rPr lang="es-ES" sz="2000" b="1" dirty="0">
                <a:solidFill>
                  <a:schemeClr val="bg1"/>
                </a:solidFill>
                <a:latin typeface="+mj-lt"/>
              </a:rPr>
              <a:t>Paso 3</a:t>
            </a:r>
          </a:p>
          <a:p>
            <a:pPr rtl="0">
              <a:spcBef>
                <a:spcPts val="400"/>
              </a:spcBef>
            </a:pPr>
            <a:r>
              <a:rPr lang="es-US" sz="1500" i="1" spc="-15" dirty="0">
                <a:solidFill>
                  <a:schemeClr val="bg2">
                    <a:lumMod val="20000"/>
                    <a:lumOff val="80000"/>
                  </a:schemeClr>
                </a:solidFill>
                <a:cs typeface="Arial"/>
              </a:rPr>
              <a:t>Utilizar la herramienta (lupa) para para visualizar la marca interna, recordar que al identificar la marca de </a:t>
            </a:r>
            <a:r>
              <a:rPr lang="es-US" sz="1500" i="1" spc="-15" dirty="0" err="1">
                <a:solidFill>
                  <a:schemeClr val="bg2">
                    <a:lumMod val="20000"/>
                    <a:lumOff val="80000"/>
                  </a:schemeClr>
                </a:solidFill>
                <a:cs typeface="Arial"/>
              </a:rPr>
              <a:t>quilataje</a:t>
            </a:r>
            <a:r>
              <a:rPr lang="es-US" sz="1500" i="1" spc="-15" dirty="0">
                <a:solidFill>
                  <a:schemeClr val="bg2">
                    <a:lumMod val="20000"/>
                    <a:lumOff val="80000"/>
                  </a:schemeClr>
                </a:solidFill>
                <a:cs typeface="Arial"/>
              </a:rPr>
              <a:t> de las joyas ya tenemos un cierto porcentaje de hacer negocio con el cliente.</a:t>
            </a:r>
            <a:endParaRPr lang="es-ES" sz="1500" i="1" spc="-15" dirty="0">
              <a:solidFill>
                <a:schemeClr val="bg2">
                  <a:lumMod val="20000"/>
                  <a:lumOff val="80000"/>
                </a:schemeClr>
              </a:solidFill>
              <a:cs typeface="Arial"/>
            </a:endParaRPr>
          </a:p>
        </p:txBody>
      </p:sp>
      <p:pic>
        <p:nvPicPr>
          <p:cNvPr id="11" name="Marcador de posición de imagen 14" descr="Icono comprobación">
            <a:extLst>
              <a:ext uri="{FF2B5EF4-FFF2-40B4-BE49-F238E27FC236}">
                <a16:creationId xmlns:a16="http://schemas.microsoft.com/office/drawing/2014/main" id="{380A2BFD-1794-4338-8BAC-66A30B88D033}"/>
              </a:ext>
            </a:extLst>
          </p:cNvPr>
          <p:cNvPicPr>
            <a:picLocks noGrp="1" noChangeAspect="1"/>
          </p:cNvPicPr>
          <p:nvPr>
            <p:ph type="pic" sz="quarter" idx="19"/>
          </p:nvPr>
        </p:nvPicPr>
        <p:blipFill>
          <a:blip r:embed="rId4" cstate="hqprint">
            <a:extLst>
              <a:ext uri="{28A0092B-C50C-407E-A947-70E740481C1C}">
                <a14:useLocalDpi xmlns:a14="http://schemas.microsoft.com/office/drawing/2010/main" val="0"/>
              </a:ext>
            </a:extLst>
          </a:blip>
          <a:srcRect/>
          <a:stretch>
            <a:fillRect/>
          </a:stretch>
        </p:blipFill>
        <p:spPr>
          <a:xfrm>
            <a:off x="6361969" y="391150"/>
            <a:ext cx="576000" cy="576000"/>
          </a:xfrm>
        </p:spPr>
      </p:pic>
      <p:pic>
        <p:nvPicPr>
          <p:cNvPr id="12" name="Marcador de posición de imagen 16" descr="Icono de comprobación">
            <a:extLst>
              <a:ext uri="{FF2B5EF4-FFF2-40B4-BE49-F238E27FC236}">
                <a16:creationId xmlns:a16="http://schemas.microsoft.com/office/drawing/2014/main" id="{AC1F4E71-E6F8-490B-A9E9-61DC2025EBEE}"/>
              </a:ext>
            </a:extLst>
          </p:cNvPr>
          <p:cNvPicPr>
            <a:picLocks noGrp="1" noChangeAspect="1"/>
          </p:cNvPicPr>
          <p:nvPr>
            <p:ph type="pic" sz="quarter" idx="22"/>
          </p:nvPr>
        </p:nvPicPr>
        <p:blipFill>
          <a:blip r:embed="rId4" cstate="hqprint">
            <a:extLst>
              <a:ext uri="{28A0092B-C50C-407E-A947-70E740481C1C}">
                <a14:useLocalDpi xmlns:a14="http://schemas.microsoft.com/office/drawing/2010/main" val="0"/>
              </a:ext>
            </a:extLst>
          </a:blip>
          <a:srcRect/>
          <a:stretch>
            <a:fillRect/>
          </a:stretch>
        </p:blipFill>
        <p:spPr>
          <a:xfrm>
            <a:off x="6481239" y="2948224"/>
            <a:ext cx="576000" cy="576001"/>
          </a:xfrm>
        </p:spPr>
      </p:pic>
      <p:pic>
        <p:nvPicPr>
          <p:cNvPr id="13" name="Marcador de posición de imagen 18" descr="Icono de comprobación">
            <a:extLst>
              <a:ext uri="{FF2B5EF4-FFF2-40B4-BE49-F238E27FC236}">
                <a16:creationId xmlns:a16="http://schemas.microsoft.com/office/drawing/2014/main" id="{138322BF-F85B-4C19-9968-C0582151091B}"/>
              </a:ext>
            </a:extLst>
          </p:cNvPr>
          <p:cNvPicPr>
            <a:picLocks noGrp="1" noChangeAspect="1"/>
          </p:cNvPicPr>
          <p:nvPr>
            <p:ph type="pic" sz="quarter" idx="24"/>
          </p:nvPr>
        </p:nvPicPr>
        <p:blipFill>
          <a:blip r:embed="rId4" cstate="hqprint">
            <a:extLst>
              <a:ext uri="{28A0092B-C50C-407E-A947-70E740481C1C}">
                <a14:useLocalDpi xmlns:a14="http://schemas.microsoft.com/office/drawing/2010/main" val="0"/>
              </a:ext>
            </a:extLst>
          </a:blip>
          <a:srcRect/>
          <a:stretch>
            <a:fillRect/>
          </a:stretch>
        </p:blipFill>
        <p:spPr>
          <a:xfrm>
            <a:off x="6470600" y="4942027"/>
            <a:ext cx="576000" cy="576001"/>
          </a:xfrm>
        </p:spPr>
      </p:pic>
      <p:sp>
        <p:nvSpPr>
          <p:cNvPr id="14" name="objeto 13" descr="Rectángulo beige">
            <a:extLst>
              <a:ext uri="{FF2B5EF4-FFF2-40B4-BE49-F238E27FC236}">
                <a16:creationId xmlns:a16="http://schemas.microsoft.com/office/drawing/2014/main" id="{FEBB8673-0A72-4C5C-8239-7EF600504010}"/>
              </a:ext>
            </a:extLst>
          </p:cNvPr>
          <p:cNvSpPr/>
          <p:nvPr/>
        </p:nvSpPr>
        <p:spPr>
          <a:xfrm>
            <a:off x="915657" y="1732553"/>
            <a:ext cx="3384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pPr rtl="0"/>
            <a:endParaRPr lang="es-ES" dirty="0"/>
          </a:p>
        </p:txBody>
      </p:sp>
    </p:spTree>
    <p:extLst>
      <p:ext uri="{BB962C8B-B14F-4D97-AF65-F5344CB8AC3E}">
        <p14:creationId xmlns:p14="http://schemas.microsoft.com/office/powerpoint/2010/main" val="2096756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54379-12DC-488A-96E2-264D244A381B}"/>
              </a:ext>
            </a:extLst>
          </p:cNvPr>
          <p:cNvSpPr>
            <a:spLocks noGrp="1"/>
          </p:cNvSpPr>
          <p:nvPr>
            <p:ph type="title"/>
          </p:nvPr>
        </p:nvSpPr>
        <p:spPr>
          <a:xfrm>
            <a:off x="794587" y="438224"/>
            <a:ext cx="3932237" cy="1302111"/>
          </a:xfrm>
        </p:spPr>
        <p:txBody>
          <a:bodyPr rtlCol="0">
            <a:normAutofit fontScale="90000"/>
          </a:bodyPr>
          <a:lstStyle/>
          <a:p>
            <a:pPr rtl="0"/>
            <a:r>
              <a:rPr lang="es-ES" dirty="0"/>
              <a:t>PASOS PARA RECONOCIMIENTO DE ORO</a:t>
            </a:r>
          </a:p>
        </p:txBody>
      </p:sp>
      <p:sp>
        <p:nvSpPr>
          <p:cNvPr id="3" name="Marcador de texto 2">
            <a:extLst>
              <a:ext uri="{FF2B5EF4-FFF2-40B4-BE49-F238E27FC236}">
                <a16:creationId xmlns:a16="http://schemas.microsoft.com/office/drawing/2014/main" id="{18397F9A-0355-4091-BDD7-5C578348C1FB}"/>
              </a:ext>
            </a:extLst>
          </p:cNvPr>
          <p:cNvSpPr>
            <a:spLocks noGrp="1"/>
          </p:cNvSpPr>
          <p:nvPr>
            <p:ph type="body" sz="half" idx="2"/>
          </p:nvPr>
        </p:nvSpPr>
        <p:spPr>
          <a:xfrm>
            <a:off x="7046601" y="397563"/>
            <a:ext cx="4505012" cy="1431234"/>
          </a:xfrm>
        </p:spPr>
        <p:txBody>
          <a:bodyPr rtlCol="0">
            <a:normAutofit/>
          </a:bodyPr>
          <a:lstStyle/>
          <a:p>
            <a:pPr rtl="0">
              <a:lnSpc>
                <a:spcPct val="110000"/>
              </a:lnSpc>
              <a:spcBef>
                <a:spcPts val="400"/>
              </a:spcBef>
            </a:pPr>
            <a:r>
              <a:rPr lang="es-ES" sz="2200" b="1" dirty="0">
                <a:solidFill>
                  <a:schemeClr val="bg1"/>
                </a:solidFill>
                <a:latin typeface="+mj-lt"/>
              </a:rPr>
              <a:t>Paso 4</a:t>
            </a:r>
          </a:p>
          <a:p>
            <a:pPr rtl="0">
              <a:spcBef>
                <a:spcPts val="400"/>
              </a:spcBef>
            </a:pPr>
            <a:r>
              <a:rPr lang="es-US" sz="1500" i="1" spc="-15" dirty="0">
                <a:solidFill>
                  <a:schemeClr val="bg2">
                    <a:lumMod val="20000"/>
                    <a:lumOff val="80000"/>
                  </a:schemeClr>
                </a:solidFill>
                <a:cs typeface="Arial"/>
              </a:rPr>
              <a:t>Usar la piedra o lija de 500 para prueba inicial.</a:t>
            </a:r>
            <a:endParaRPr lang="es-ES" sz="1500" i="1" spc="-15" dirty="0">
              <a:solidFill>
                <a:schemeClr val="bg2">
                  <a:lumMod val="20000"/>
                  <a:lumOff val="80000"/>
                </a:schemeClr>
              </a:solidFill>
              <a:cs typeface="Arial"/>
            </a:endParaRPr>
          </a:p>
        </p:txBody>
      </p:sp>
      <p:sp>
        <p:nvSpPr>
          <p:cNvPr id="4" name="Marcador de número de diapositiva 3">
            <a:extLst>
              <a:ext uri="{FF2B5EF4-FFF2-40B4-BE49-F238E27FC236}">
                <a16:creationId xmlns:a16="http://schemas.microsoft.com/office/drawing/2014/main" id="{1330DBC9-EEFC-416D-BFAD-DB6D1A9E8CB2}"/>
              </a:ext>
            </a:extLst>
          </p:cNvPr>
          <p:cNvSpPr>
            <a:spLocks noGrp="1"/>
          </p:cNvSpPr>
          <p:nvPr>
            <p:ph type="sldNum" sz="quarter" idx="12"/>
          </p:nvPr>
        </p:nvSpPr>
        <p:spPr>
          <a:xfrm>
            <a:off x="11556903" y="6174909"/>
            <a:ext cx="357116" cy="365125"/>
          </a:xfrm>
        </p:spPr>
        <p:txBody>
          <a:bodyPr rtlCol="0"/>
          <a:lstStyle/>
          <a:p>
            <a:pPr algn="just" rtl="0"/>
            <a:fld id="{82EE24B5-652C-4DB5-B7C3-B5BBEC1280B1}" type="slidenum">
              <a:rPr lang="es-ES" smtClean="0"/>
              <a:pPr algn="just" rtl="0"/>
              <a:t>5</a:t>
            </a:fld>
            <a:endParaRPr lang="es-ES" dirty="0"/>
          </a:p>
        </p:txBody>
      </p:sp>
      <p:sp>
        <p:nvSpPr>
          <p:cNvPr id="8" name="Marcador de texto 7">
            <a:extLst>
              <a:ext uri="{FF2B5EF4-FFF2-40B4-BE49-F238E27FC236}">
                <a16:creationId xmlns:a16="http://schemas.microsoft.com/office/drawing/2014/main" id="{0D9263D0-7B10-45A1-AD9E-D040B170EFE2}"/>
              </a:ext>
            </a:extLst>
          </p:cNvPr>
          <p:cNvSpPr>
            <a:spLocks noGrp="1"/>
          </p:cNvSpPr>
          <p:nvPr>
            <p:ph type="body" sz="half" idx="23"/>
          </p:nvPr>
        </p:nvSpPr>
        <p:spPr>
          <a:xfrm>
            <a:off x="7046600" y="1631165"/>
            <a:ext cx="4422244" cy="1648628"/>
          </a:xfrm>
        </p:spPr>
        <p:txBody>
          <a:bodyPr rtlCol="0">
            <a:normAutofit fontScale="62500" lnSpcReduction="20000"/>
          </a:bodyPr>
          <a:lstStyle/>
          <a:p>
            <a:pPr>
              <a:lnSpc>
                <a:spcPct val="110000"/>
              </a:lnSpc>
              <a:spcBef>
                <a:spcPts val="400"/>
              </a:spcBef>
            </a:pPr>
            <a:r>
              <a:rPr lang="es-ES" sz="3600" b="1" dirty="0">
                <a:solidFill>
                  <a:schemeClr val="bg1"/>
                </a:solidFill>
              </a:rPr>
              <a:t>Paso 5</a:t>
            </a:r>
          </a:p>
          <a:p>
            <a:pPr>
              <a:spcBef>
                <a:spcPts val="400"/>
              </a:spcBef>
            </a:pPr>
            <a:r>
              <a:rPr lang="es-US" sz="2400" i="1" spc="-15" dirty="0">
                <a:solidFill>
                  <a:schemeClr val="bg2">
                    <a:lumMod val="20000"/>
                    <a:lumOff val="80000"/>
                  </a:schemeClr>
                </a:solidFill>
                <a:cs typeface="Arial"/>
              </a:rPr>
              <a:t>Usar lima en caso de que sea necesario para despejar dudas, recordar las formas de usar la lima (según video subido en aula virtual) para no dañar la joya) recordar que si es una joya que está marcada con 750 y ya le hemos hecho una prueba previa no hay necesidad de usar lima.</a:t>
            </a:r>
            <a:endParaRPr lang="es-ES" sz="2400" i="1" spc="-15" dirty="0">
              <a:solidFill>
                <a:schemeClr val="bg2">
                  <a:lumMod val="20000"/>
                  <a:lumOff val="80000"/>
                </a:schemeClr>
              </a:solidFill>
              <a:cs typeface="Arial"/>
            </a:endParaRPr>
          </a:p>
        </p:txBody>
      </p:sp>
      <p:pic>
        <p:nvPicPr>
          <p:cNvPr id="11" name="Marcador de posición de imagen 14" descr="Icono comprobación">
            <a:extLst>
              <a:ext uri="{FF2B5EF4-FFF2-40B4-BE49-F238E27FC236}">
                <a16:creationId xmlns:a16="http://schemas.microsoft.com/office/drawing/2014/main" id="{380A2BFD-1794-4338-8BAC-66A30B88D033}"/>
              </a:ext>
            </a:extLst>
          </p:cNvPr>
          <p:cNvPicPr>
            <a:picLocks noGrp="1" noChangeAspect="1"/>
          </p:cNvPicPr>
          <p:nvPr>
            <p:ph type="pic" sz="quarter" idx="19"/>
          </p:nvPr>
        </p:nvPicPr>
        <p:blipFill>
          <a:blip r:embed="rId3" cstate="hqprint">
            <a:extLst>
              <a:ext uri="{28A0092B-C50C-407E-A947-70E740481C1C}">
                <a14:useLocalDpi xmlns:a14="http://schemas.microsoft.com/office/drawing/2010/main" val="0"/>
              </a:ext>
            </a:extLst>
          </a:blip>
          <a:srcRect/>
          <a:stretch>
            <a:fillRect/>
          </a:stretch>
        </p:blipFill>
        <p:spPr>
          <a:xfrm>
            <a:off x="6481239" y="342229"/>
            <a:ext cx="576000" cy="576000"/>
          </a:xfrm>
        </p:spPr>
      </p:pic>
      <p:pic>
        <p:nvPicPr>
          <p:cNvPr id="12" name="Marcador de posición de imagen 16" descr="Icono de comprobación">
            <a:extLst>
              <a:ext uri="{FF2B5EF4-FFF2-40B4-BE49-F238E27FC236}">
                <a16:creationId xmlns:a16="http://schemas.microsoft.com/office/drawing/2014/main" id="{AC1F4E71-E6F8-490B-A9E9-61DC2025EBEE}"/>
              </a:ext>
            </a:extLst>
          </p:cNvPr>
          <p:cNvPicPr>
            <a:picLocks noGrp="1" noChangeAspect="1"/>
          </p:cNvPicPr>
          <p:nvPr>
            <p:ph type="pic" sz="quarter" idx="22"/>
          </p:nvPr>
        </p:nvPicPr>
        <p:blipFill>
          <a:blip r:embed="rId3" cstate="hqprint">
            <a:extLst>
              <a:ext uri="{28A0092B-C50C-407E-A947-70E740481C1C}">
                <a14:useLocalDpi xmlns:a14="http://schemas.microsoft.com/office/drawing/2010/main" val="0"/>
              </a:ext>
            </a:extLst>
          </a:blip>
          <a:srcRect/>
          <a:stretch>
            <a:fillRect/>
          </a:stretch>
        </p:blipFill>
        <p:spPr>
          <a:xfrm>
            <a:off x="6481239" y="1576619"/>
            <a:ext cx="576000" cy="576001"/>
          </a:xfrm>
        </p:spPr>
      </p:pic>
      <p:pic>
        <p:nvPicPr>
          <p:cNvPr id="13" name="Marcador de posición de imagen 18" descr="Icono de comprobación">
            <a:extLst>
              <a:ext uri="{FF2B5EF4-FFF2-40B4-BE49-F238E27FC236}">
                <a16:creationId xmlns:a16="http://schemas.microsoft.com/office/drawing/2014/main" id="{138322BF-F85B-4C19-9968-C0582151091B}"/>
              </a:ext>
            </a:extLst>
          </p:cNvPr>
          <p:cNvPicPr>
            <a:picLocks noGrp="1" noChangeAspect="1"/>
          </p:cNvPicPr>
          <p:nvPr>
            <p:ph type="pic" sz="quarter" idx="24"/>
          </p:nvPr>
        </p:nvPicPr>
        <p:blipFill>
          <a:blip r:embed="rId3" cstate="hqprint">
            <a:extLst>
              <a:ext uri="{28A0092B-C50C-407E-A947-70E740481C1C}">
                <a14:useLocalDpi xmlns:a14="http://schemas.microsoft.com/office/drawing/2010/main" val="0"/>
              </a:ext>
            </a:extLst>
          </a:blip>
          <a:srcRect/>
          <a:stretch>
            <a:fillRect/>
          </a:stretch>
        </p:blipFill>
        <p:spPr>
          <a:xfrm>
            <a:off x="6481239" y="4923460"/>
            <a:ext cx="576000" cy="576001"/>
          </a:xfrm>
        </p:spPr>
      </p:pic>
      <p:sp>
        <p:nvSpPr>
          <p:cNvPr id="14" name="objeto 13" descr="Rectángulo beige">
            <a:extLst>
              <a:ext uri="{FF2B5EF4-FFF2-40B4-BE49-F238E27FC236}">
                <a16:creationId xmlns:a16="http://schemas.microsoft.com/office/drawing/2014/main" id="{FEBB8673-0A72-4C5C-8239-7EF600504010}"/>
              </a:ext>
            </a:extLst>
          </p:cNvPr>
          <p:cNvSpPr/>
          <p:nvPr/>
        </p:nvSpPr>
        <p:spPr>
          <a:xfrm>
            <a:off x="915657" y="1732553"/>
            <a:ext cx="3384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pPr rtl="0"/>
            <a:endParaRPr lang="es-ES" dirty="0"/>
          </a:p>
        </p:txBody>
      </p:sp>
      <p:pic>
        <p:nvPicPr>
          <p:cNvPr id="7" name="Marcador de posición de imagen 11" descr="Dos hombres cerca de un portátil ">
            <a:extLst>
              <a:ext uri="{FF2B5EF4-FFF2-40B4-BE49-F238E27FC236}">
                <a16:creationId xmlns:a16="http://schemas.microsoft.com/office/drawing/2014/main" id="{C5763BA1-8898-7B0A-A5A2-687531E67F1A}"/>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419168" y="2072317"/>
            <a:ext cx="3880489" cy="4253388"/>
          </a:xfrm>
          <a:prstGeom prst="rect">
            <a:avLst/>
          </a:prstGeom>
        </p:spPr>
      </p:pic>
      <p:sp>
        <p:nvSpPr>
          <p:cNvPr id="9" name="Marcador de texto 9">
            <a:extLst>
              <a:ext uri="{FF2B5EF4-FFF2-40B4-BE49-F238E27FC236}">
                <a16:creationId xmlns:a16="http://schemas.microsoft.com/office/drawing/2014/main" id="{0E775EF3-5365-3094-AB24-54E0917947AB}"/>
              </a:ext>
            </a:extLst>
          </p:cNvPr>
          <p:cNvSpPr txBox="1">
            <a:spLocks/>
          </p:cNvSpPr>
          <p:nvPr/>
        </p:nvSpPr>
        <p:spPr>
          <a:xfrm>
            <a:off x="7070491" y="4936712"/>
            <a:ext cx="4505012" cy="1300280"/>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2">
                    <a:lumMod val="40000"/>
                    <a:lumOff val="6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s-ES" sz="2600" b="1" dirty="0">
                <a:solidFill>
                  <a:schemeClr val="bg1"/>
                </a:solidFill>
              </a:rPr>
              <a:t>Paso 6</a:t>
            </a:r>
            <a:endParaRPr lang="es-EC" sz="2600" i="1" dirty="0"/>
          </a:p>
          <a:p>
            <a:r>
              <a:rPr lang="es-EC" sz="1500" i="1" dirty="0"/>
              <a:t>USAR ACIDO QUE NO ESTE VENCIDO Y CON LAS MEZCLAS EXACTAS PARA UNA REACCION VERDADERA, NO OLVIDAR USAR GUANTES A LA HORA DE LA PRUEBA Y ASI EVITAR LESIONES.</a:t>
            </a:r>
          </a:p>
        </p:txBody>
      </p:sp>
      <p:sp>
        <p:nvSpPr>
          <p:cNvPr id="15" name="Marcador de texto 9">
            <a:extLst>
              <a:ext uri="{FF2B5EF4-FFF2-40B4-BE49-F238E27FC236}">
                <a16:creationId xmlns:a16="http://schemas.microsoft.com/office/drawing/2014/main" id="{0E775EF3-5365-3094-AB24-54E0917947AB}"/>
              </a:ext>
            </a:extLst>
          </p:cNvPr>
          <p:cNvSpPr txBox="1">
            <a:spLocks noGrp="1"/>
          </p:cNvSpPr>
          <p:nvPr>
            <p:ph type="body" sz="half" idx="25"/>
          </p:nvPr>
        </p:nvSpPr>
        <p:spPr>
          <a:xfrm>
            <a:off x="7046913" y="3255964"/>
            <a:ext cx="4505325" cy="154060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bg2">
                    <a:lumMod val="40000"/>
                    <a:lumOff val="6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10000"/>
              </a:lnSpc>
              <a:spcBef>
                <a:spcPts val="400"/>
              </a:spcBef>
            </a:pPr>
            <a:r>
              <a:rPr lang="es-ES" sz="2200" b="1" dirty="0">
                <a:solidFill>
                  <a:schemeClr val="bg1"/>
                </a:solidFill>
                <a:latin typeface="+mj-lt"/>
              </a:rPr>
              <a:t>Nota:</a:t>
            </a:r>
          </a:p>
          <a:p>
            <a:pPr>
              <a:spcBef>
                <a:spcPts val="400"/>
              </a:spcBef>
            </a:pPr>
            <a:r>
              <a:rPr lang="es-US" sz="1500" i="1" spc="-15" dirty="0">
                <a:solidFill>
                  <a:schemeClr val="bg2">
                    <a:lumMod val="20000"/>
                    <a:lumOff val="80000"/>
                  </a:schemeClr>
                </a:solidFill>
                <a:cs typeface="Arial"/>
              </a:rPr>
              <a:t>reconocer las marcaciones y visualizar a detalle el broche, uniones, soldaduras en caso de tener.</a:t>
            </a:r>
            <a:endParaRPr lang="es-ES" sz="1500" i="1" spc="-15" dirty="0">
              <a:solidFill>
                <a:schemeClr val="bg2">
                  <a:lumMod val="20000"/>
                  <a:lumOff val="80000"/>
                </a:schemeClr>
              </a:solidFill>
              <a:cs typeface="Arial"/>
            </a:endParaRPr>
          </a:p>
        </p:txBody>
      </p:sp>
      <p:sp>
        <p:nvSpPr>
          <p:cNvPr id="6" name="Marcador de posición de imagen 5">
            <a:extLst>
              <a:ext uri="{FF2B5EF4-FFF2-40B4-BE49-F238E27FC236}">
                <a16:creationId xmlns:a16="http://schemas.microsoft.com/office/drawing/2014/main" id="{95C66A00-17AC-4188-BE6F-28947D93A0BB}"/>
              </a:ext>
            </a:extLst>
          </p:cNvPr>
          <p:cNvSpPr>
            <a:spLocks noGrp="1"/>
          </p:cNvSpPr>
          <p:nvPr>
            <p:ph type="pic" sz="quarter" idx="24"/>
          </p:nvPr>
        </p:nvSpPr>
        <p:spPr/>
      </p:sp>
    </p:spTree>
    <p:extLst>
      <p:ext uri="{BB962C8B-B14F-4D97-AF65-F5344CB8AC3E}">
        <p14:creationId xmlns:p14="http://schemas.microsoft.com/office/powerpoint/2010/main" val="284487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7918" y="505242"/>
            <a:ext cx="4439477" cy="1139431"/>
          </a:xfrm>
        </p:spPr>
        <p:txBody>
          <a:bodyPr>
            <a:normAutofit fontScale="90000"/>
          </a:bodyPr>
          <a:lstStyle/>
          <a:p>
            <a:r>
              <a:rPr lang="es-ES" dirty="0"/>
              <a:t>PASOS PARA RECONOCIMIENTO DE ORO</a:t>
            </a:r>
            <a:br>
              <a:rPr lang="es-ES" dirty="0"/>
            </a:br>
            <a:endParaRPr lang="es-EC" dirty="0"/>
          </a:p>
        </p:txBody>
      </p:sp>
      <p:sp>
        <p:nvSpPr>
          <p:cNvPr id="5" name="Marcador de número de diapositiva 4"/>
          <p:cNvSpPr>
            <a:spLocks noGrp="1"/>
          </p:cNvSpPr>
          <p:nvPr>
            <p:ph type="sldNum" sz="quarter" idx="12"/>
          </p:nvPr>
        </p:nvSpPr>
        <p:spPr/>
        <p:txBody>
          <a:bodyPr/>
          <a:lstStyle/>
          <a:p>
            <a:pPr rtl="0"/>
            <a:fld id="{82EE24B5-652C-4DB5-B7C3-B5BBEC1280B1}" type="slidenum">
              <a:rPr lang="es-ES" noProof="0" smtClean="0"/>
              <a:t>6</a:t>
            </a:fld>
            <a:endParaRPr lang="es-ES" noProof="0" dirty="0"/>
          </a:p>
        </p:txBody>
      </p:sp>
      <p:sp>
        <p:nvSpPr>
          <p:cNvPr id="18" name="Marcador de posición de imagen 17"/>
          <p:cNvSpPr>
            <a:spLocks noGrp="1"/>
          </p:cNvSpPr>
          <p:nvPr>
            <p:ph type="pic" idx="1"/>
          </p:nvPr>
        </p:nvSpPr>
        <p:spPr/>
      </p:sp>
      <p:pic>
        <p:nvPicPr>
          <p:cNvPr id="6" name="Marcador de posición de imagen 11" descr="Dos hombres cerca de un portátil ">
            <a:extLst>
              <a:ext uri="{FF2B5EF4-FFF2-40B4-BE49-F238E27FC236}">
                <a16:creationId xmlns:a16="http://schemas.microsoft.com/office/drawing/2014/main" id="{C5763BA1-8898-7B0A-A5A2-687531E67F1A}"/>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23781" y="1908314"/>
            <a:ext cx="6064580" cy="4253388"/>
          </a:xfrm>
          <a:prstGeom prst="rect">
            <a:avLst/>
          </a:prstGeom>
        </p:spPr>
      </p:pic>
      <p:sp>
        <p:nvSpPr>
          <p:cNvPr id="7" name="objeto 13" descr="Rectángulo beige">
            <a:extLst>
              <a:ext uri="{FF2B5EF4-FFF2-40B4-BE49-F238E27FC236}">
                <a16:creationId xmlns:a16="http://schemas.microsoft.com/office/drawing/2014/main" id="{FEBB8673-0A72-4C5C-8239-7EF600504010}"/>
              </a:ext>
            </a:extLst>
          </p:cNvPr>
          <p:cNvSpPr/>
          <p:nvPr/>
        </p:nvSpPr>
        <p:spPr>
          <a:xfrm>
            <a:off x="915657" y="1732553"/>
            <a:ext cx="3384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pPr rtl="0"/>
            <a:endParaRPr lang="es-ES" dirty="0"/>
          </a:p>
        </p:txBody>
      </p:sp>
      <p:pic>
        <p:nvPicPr>
          <p:cNvPr id="25" name="Marcador de posición de imagen 14" descr="Icono comprobación">
            <a:extLst>
              <a:ext uri="{FF2B5EF4-FFF2-40B4-BE49-F238E27FC236}">
                <a16:creationId xmlns:a16="http://schemas.microsoft.com/office/drawing/2014/main" id="{380A2BFD-1794-4338-8BAC-66A30B88D033}"/>
              </a:ext>
            </a:extLst>
          </p:cNvPr>
          <p:cNvPicPr>
            <a:picLocks noGrp="1" noChangeAspect="1"/>
          </p:cNvPicPr>
          <p:nvPr>
            <p:ph type="pic" sz="quarter" idx="19"/>
          </p:nvPr>
        </p:nvPicPr>
        <p:blipFill>
          <a:blip r:embed="rId3" cstate="hqprint">
            <a:extLst>
              <a:ext uri="{28A0092B-C50C-407E-A947-70E740481C1C}">
                <a14:useLocalDpi xmlns:a14="http://schemas.microsoft.com/office/drawing/2010/main" val="0"/>
              </a:ext>
            </a:extLst>
          </a:blip>
          <a:srcRect/>
          <a:stretch>
            <a:fillRect/>
          </a:stretch>
        </p:blipFill>
        <p:spPr>
          <a:xfrm>
            <a:off x="6346965" y="417362"/>
            <a:ext cx="708144" cy="708144"/>
          </a:xfrm>
        </p:spPr>
      </p:pic>
      <p:sp>
        <p:nvSpPr>
          <p:cNvPr id="26" name="Marcador de texto 25"/>
          <p:cNvSpPr>
            <a:spLocks noGrp="1"/>
          </p:cNvSpPr>
          <p:nvPr>
            <p:ph type="body" sz="half" idx="2"/>
          </p:nvPr>
        </p:nvSpPr>
        <p:spPr>
          <a:xfrm>
            <a:off x="7055109" y="99310"/>
            <a:ext cx="4057961" cy="2531166"/>
          </a:xfrm>
        </p:spPr>
        <p:txBody>
          <a:bodyPr>
            <a:normAutofit fontScale="25000" lnSpcReduction="20000"/>
          </a:bodyPr>
          <a:lstStyle/>
          <a:p>
            <a:pPr fontAlgn="base"/>
            <a:r>
              <a:rPr lang="es-EC" sz="7200" i="1" u="sng" dirty="0"/>
              <a:t>PRUEBA CON ACIDO </a:t>
            </a:r>
            <a:endParaRPr lang="es-EC" sz="7200" i="1" dirty="0"/>
          </a:p>
          <a:p>
            <a:pPr fontAlgn="base"/>
            <a:endParaRPr lang="es-EC" sz="5600" i="1" u="sng" dirty="0"/>
          </a:p>
          <a:p>
            <a:pPr fontAlgn="base"/>
            <a:r>
              <a:rPr lang="es-EC" sz="6400" i="1" u="sng" dirty="0"/>
              <a:t>El </a:t>
            </a:r>
            <a:r>
              <a:rPr lang="es-EC" sz="6400" i="1" dirty="0"/>
              <a:t>oro 24k, 22k, 18k, 750 no presenta ninguna reacción al acido</a:t>
            </a:r>
          </a:p>
          <a:p>
            <a:pPr fontAlgn="base"/>
            <a:r>
              <a:rPr lang="es-EC" sz="6400" i="1" dirty="0"/>
              <a:t>14k presenta café oscuro a la hora de aplicar el ácido.</a:t>
            </a:r>
          </a:p>
          <a:p>
            <a:pPr fontAlgn="base"/>
            <a:r>
              <a:rPr lang="es-EC" sz="6400" i="1" dirty="0"/>
              <a:t>10k presenta inicialmente café oscuro, si dejamos el ácido durante algunos segundos presentar burbujeo ligeramente verde – blanco.</a:t>
            </a:r>
          </a:p>
          <a:p>
            <a:pPr fontAlgn="base"/>
            <a:endParaRPr lang="es-EC" sz="6400" i="1" dirty="0"/>
          </a:p>
          <a:p>
            <a:pPr lvl="0" fontAlgn="base"/>
            <a:r>
              <a:rPr lang="es-EC" sz="6400" i="1" dirty="0"/>
              <a:t>En caso de que se ponga de </a:t>
            </a:r>
            <a:r>
              <a:rPr lang="es-EC" sz="6400" b="1" i="1" dirty="0"/>
              <a:t>color verde</a:t>
            </a:r>
            <a:r>
              <a:rPr lang="es-EC" sz="6400" i="1" dirty="0"/>
              <a:t>, quiere decir que la pieza está fabricada en otro metal que </a:t>
            </a:r>
            <a:r>
              <a:rPr lang="es-EC" sz="6400" b="1" i="1" dirty="0"/>
              <a:t>no es oro</a:t>
            </a:r>
            <a:r>
              <a:rPr lang="es-EC" sz="6400" i="1" dirty="0"/>
              <a:t> (COBRE- BRONCE) o que simplemente está bañado en oro.</a:t>
            </a:r>
          </a:p>
          <a:p>
            <a:pPr lvl="0" fontAlgn="base"/>
            <a:r>
              <a:rPr lang="es-EC" sz="6400" i="1" dirty="0"/>
              <a:t>Si se pone de </a:t>
            </a:r>
            <a:r>
              <a:rPr lang="es-EC" sz="6400" b="1" i="1" dirty="0"/>
              <a:t>color blanco</a:t>
            </a:r>
            <a:r>
              <a:rPr lang="es-EC" sz="6400" i="1" dirty="0"/>
              <a:t>, puede tratarse que la pieza es de </a:t>
            </a:r>
            <a:r>
              <a:rPr lang="es-EC" sz="6400" b="1" i="1" dirty="0"/>
              <a:t>plata de ley y ha recibido un baño de oro</a:t>
            </a:r>
            <a:r>
              <a:rPr lang="es-EC" sz="6400" i="1" dirty="0"/>
              <a:t>.</a:t>
            </a:r>
          </a:p>
          <a:p>
            <a:pPr lvl="0" fontAlgn="base"/>
            <a:r>
              <a:rPr lang="es-EC" sz="6400" i="1" dirty="0"/>
              <a:t>Si el color que adquiere la pieza es </a:t>
            </a:r>
            <a:r>
              <a:rPr lang="es-EC" sz="6400" b="1" i="1" dirty="0"/>
              <a:t>dorado</a:t>
            </a:r>
            <a:r>
              <a:rPr lang="es-EC" sz="6400" i="1" dirty="0"/>
              <a:t>, la pieza </a:t>
            </a:r>
            <a:r>
              <a:rPr lang="es-EC" sz="6400" b="1" i="1" dirty="0"/>
              <a:t>es de latón y tiene un baño en oro</a:t>
            </a:r>
            <a:r>
              <a:rPr lang="es-EC" sz="6400" i="1" dirty="0"/>
              <a:t>.</a:t>
            </a:r>
          </a:p>
          <a:p>
            <a:pPr lvl="0" fontAlgn="base"/>
            <a:r>
              <a:rPr lang="es-EC" sz="6400" b="1" i="1" dirty="0"/>
              <a:t>Si no se produce ninguna clase de reacción, es</a:t>
            </a:r>
            <a:r>
              <a:rPr lang="es-EC" sz="6400" i="1" dirty="0"/>
              <a:t> muy probable que nos encontremos ante </a:t>
            </a:r>
            <a:r>
              <a:rPr lang="es-EC" sz="6400" b="1" i="1" dirty="0"/>
              <a:t>una pieza de oro real</a:t>
            </a:r>
            <a:r>
              <a:rPr lang="es-EC" sz="6400" i="1" dirty="0"/>
              <a:t>.</a:t>
            </a:r>
          </a:p>
          <a:p>
            <a:r>
              <a:rPr lang="es-EC" sz="6400" i="1" dirty="0"/>
              <a:t> pieza </a:t>
            </a:r>
            <a:r>
              <a:rPr lang="es-EC" sz="6400" b="1" i="1" dirty="0"/>
              <a:t>es de latón y tiene un baño en oro</a:t>
            </a:r>
            <a:r>
              <a:rPr lang="es-EC" sz="6400" i="1" dirty="0"/>
              <a:t>.</a:t>
            </a:r>
          </a:p>
          <a:p>
            <a:pPr lvl="0" fontAlgn="base"/>
            <a:r>
              <a:rPr lang="es-EC" sz="6400" b="1" i="1" dirty="0"/>
              <a:t>Si no se produce ninguna clase de reacción, es</a:t>
            </a:r>
            <a:r>
              <a:rPr lang="es-EC" sz="6400" i="1" dirty="0"/>
              <a:t> muy probable que nos encontremos ante </a:t>
            </a:r>
            <a:r>
              <a:rPr lang="es-EC" sz="6400" b="1" i="1" dirty="0"/>
              <a:t>una pieza de oro real.</a:t>
            </a:r>
            <a:endParaRPr lang="es-EC" sz="6400" i="1" dirty="0"/>
          </a:p>
          <a:p>
            <a:r>
              <a:rPr lang="es-EC" sz="6400" dirty="0"/>
              <a:t> </a:t>
            </a:r>
          </a:p>
          <a:p>
            <a:pPr fontAlgn="base"/>
            <a:endParaRPr lang="es-EC" i="1" dirty="0"/>
          </a:p>
        </p:txBody>
      </p:sp>
    </p:spTree>
    <p:extLst>
      <p:ext uri="{BB962C8B-B14F-4D97-AF65-F5344CB8AC3E}">
        <p14:creationId xmlns:p14="http://schemas.microsoft.com/office/powerpoint/2010/main" val="1037540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107532" y="515187"/>
            <a:ext cx="7976936" cy="707886"/>
          </a:xfrm>
          <a:prstGeom prst="rect">
            <a:avLst/>
          </a:prstGeom>
          <a:noFill/>
        </p:spPr>
        <p:txBody>
          <a:bodyPr wrap="square" rtlCol="0">
            <a:spAutoFit/>
          </a:bodyPr>
          <a:lstStyle/>
          <a:p>
            <a:r>
              <a:rPr lang="es-EC" sz="4000" b="1" dirty="0"/>
              <a:t>SELLOS QUE PUEDE TENER UNA JOYA</a:t>
            </a:r>
          </a:p>
        </p:txBody>
      </p:sp>
      <p:sp>
        <p:nvSpPr>
          <p:cNvPr id="5" name="CuadroTexto 4"/>
          <p:cNvSpPr txBox="1"/>
          <p:nvPr/>
        </p:nvSpPr>
        <p:spPr>
          <a:xfrm>
            <a:off x="822786" y="2228671"/>
            <a:ext cx="4110159" cy="1200329"/>
          </a:xfrm>
          <a:prstGeom prst="rect">
            <a:avLst/>
          </a:prstGeom>
          <a:noFill/>
        </p:spPr>
        <p:txBody>
          <a:bodyPr wrap="square" rtlCol="0">
            <a:spAutoFit/>
          </a:bodyPr>
          <a:lstStyle/>
          <a:p>
            <a:r>
              <a:rPr lang="es-EC" dirty="0"/>
              <a:t>- </a:t>
            </a:r>
            <a:r>
              <a:rPr lang="es-EC" b="1" dirty="0"/>
              <a:t>En las cadenas</a:t>
            </a:r>
            <a:r>
              <a:rPr lang="es-EC" dirty="0"/>
              <a:t> suelen tener, dependiendo del grosor y tipo de eslabón de la cadena, una pequeña anilla o asa plana justo al lado del cierre.</a:t>
            </a: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1174" y="1857451"/>
            <a:ext cx="5029200" cy="1942768"/>
          </a:xfrm>
          <a:prstGeom prst="rect">
            <a:avLst/>
          </a:prstGeom>
        </p:spPr>
      </p:pic>
      <p:sp>
        <p:nvSpPr>
          <p:cNvPr id="8" name="CuadroTexto 7"/>
          <p:cNvSpPr txBox="1"/>
          <p:nvPr/>
        </p:nvSpPr>
        <p:spPr>
          <a:xfrm>
            <a:off x="822785" y="4176817"/>
            <a:ext cx="4110159" cy="1200329"/>
          </a:xfrm>
          <a:prstGeom prst="rect">
            <a:avLst/>
          </a:prstGeom>
          <a:noFill/>
        </p:spPr>
        <p:txBody>
          <a:bodyPr wrap="square" rtlCol="0">
            <a:spAutoFit/>
          </a:bodyPr>
          <a:lstStyle/>
          <a:p>
            <a:r>
              <a:rPr lang="es-EC" dirty="0"/>
              <a:t>- </a:t>
            </a:r>
            <a:r>
              <a:rPr lang="es-EC" b="1" dirty="0"/>
              <a:t>En los cierres de resortes o mosquetones</a:t>
            </a:r>
            <a:r>
              <a:rPr lang="es-EC" dirty="0"/>
              <a:t> que se utilizan para las cadenas se colocan en el mismo émbolo o gatillo.</a:t>
            </a:r>
          </a:p>
        </p:txBody>
      </p:sp>
      <p:pic>
        <p:nvPicPr>
          <p:cNvPr id="12" name="Imagen 11"/>
          <p:cNvPicPr>
            <a:picLocks noChangeAspect="1"/>
          </p:cNvPicPr>
          <p:nvPr/>
        </p:nvPicPr>
        <p:blipFill rotWithShape="1">
          <a:blip r:embed="rId3"/>
          <a:srcRect l="24573" t="32974" r="24210" b="30341"/>
          <a:stretch>
            <a:fillRect/>
          </a:stretch>
        </p:blipFill>
        <p:spPr>
          <a:xfrm>
            <a:off x="5781174" y="4176817"/>
            <a:ext cx="4824662" cy="17345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42122" y="251791"/>
            <a:ext cx="4029903" cy="1480762"/>
          </a:xfrm>
        </p:spPr>
        <p:txBody>
          <a:bodyPr>
            <a:normAutofit fontScale="90000"/>
          </a:bodyPr>
          <a:lstStyle/>
          <a:p>
            <a:r>
              <a:rPr lang="es-ES" dirty="0"/>
              <a:t>PASOS PARA RECONOCIMIENTO DE ORO</a:t>
            </a:r>
            <a:br>
              <a:rPr lang="es-ES" dirty="0"/>
            </a:br>
            <a:endParaRPr lang="es-EC" dirty="0"/>
          </a:p>
        </p:txBody>
      </p:sp>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8</a:t>
            </a:fld>
            <a:endParaRPr lang="es-ES" noProof="0" dirty="0"/>
          </a:p>
        </p:txBody>
      </p:sp>
      <p:pic>
        <p:nvPicPr>
          <p:cNvPr id="12" name="Marcador de posición de imagen 11"/>
          <p:cNvPicPr>
            <a:picLocks noGrp="1" noChangeAspect="1"/>
          </p:cNvPicPr>
          <p:nvPr>
            <p:ph type="pic" idx="1"/>
          </p:nvPr>
        </p:nvPicPr>
        <p:blipFill>
          <a:blip r:embed="rId2" cstate="hqprint">
            <a:extLst>
              <a:ext uri="{28A0092B-C50C-407E-A947-70E740481C1C}">
                <a14:useLocalDpi xmlns:a14="http://schemas.microsoft.com/office/drawing/2010/main" val="0"/>
              </a:ext>
            </a:extLst>
          </a:blip>
          <a:srcRect/>
          <a:stretch>
            <a:fillRect/>
          </a:stretch>
        </p:blipFill>
        <p:spPr>
          <a:xfrm>
            <a:off x="0" y="1868558"/>
            <a:ext cx="5314122" cy="4130694"/>
          </a:xfrm>
        </p:spPr>
      </p:pic>
      <p:sp>
        <p:nvSpPr>
          <p:cNvPr id="11" name="objeto 13" descr="Rectángulo beige">
            <a:extLst>
              <a:ext uri="{FF2B5EF4-FFF2-40B4-BE49-F238E27FC236}">
                <a16:creationId xmlns:a16="http://schemas.microsoft.com/office/drawing/2014/main" id="{FEBB8673-0A72-4C5C-8239-7EF600504010}"/>
              </a:ext>
            </a:extLst>
          </p:cNvPr>
          <p:cNvSpPr/>
          <p:nvPr/>
        </p:nvSpPr>
        <p:spPr>
          <a:xfrm>
            <a:off x="915657" y="1732553"/>
            <a:ext cx="3384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pPr rtl="0"/>
            <a:endParaRPr lang="es-ES" dirty="0"/>
          </a:p>
        </p:txBody>
      </p:sp>
      <p:sp>
        <p:nvSpPr>
          <p:cNvPr id="13" name="Rectángulo 12"/>
          <p:cNvSpPr/>
          <p:nvPr/>
        </p:nvSpPr>
        <p:spPr>
          <a:xfrm>
            <a:off x="5473148" y="144468"/>
            <a:ext cx="6718852" cy="5337359"/>
          </a:xfrm>
          <a:prstGeom prst="rect">
            <a:avLst/>
          </a:prstGeom>
        </p:spPr>
        <p:txBody>
          <a:bodyPr wrap="square">
            <a:spAutoFit/>
          </a:bodyPr>
          <a:lstStyle/>
          <a:p>
            <a:pPr fontAlgn="base">
              <a:lnSpc>
                <a:spcPts val="2400"/>
              </a:lnSpc>
              <a:spcAft>
                <a:spcPts val="1050"/>
              </a:spcAft>
            </a:pPr>
            <a:r>
              <a:rPr lang="es-EC" sz="2000" i="1" u="sng" spc="-40" dirty="0">
                <a:solidFill>
                  <a:schemeClr val="bg1"/>
                </a:solidFill>
                <a:ea typeface="Times New Roman" panose="02020603050405020304" pitchFamily="18" charset="0"/>
                <a:cs typeface="Times New Roman" panose="02020603050405020304" pitchFamily="18" charset="0"/>
              </a:rPr>
              <a:t>El test del imán.</a:t>
            </a:r>
            <a:endParaRPr lang="es-EC" sz="1200" i="1" dirty="0">
              <a:solidFill>
                <a:schemeClr val="bg1"/>
              </a:solidFill>
              <a:ea typeface="Calibri" panose="020F0502020204030204" pitchFamily="34" charset="0"/>
              <a:cs typeface="Times New Roman" panose="02020603050405020304" pitchFamily="18" charset="0"/>
            </a:endParaRPr>
          </a:p>
          <a:p>
            <a:pPr fontAlgn="base">
              <a:lnSpc>
                <a:spcPts val="2400"/>
              </a:lnSpc>
              <a:spcAft>
                <a:spcPts val="1050"/>
              </a:spcAft>
            </a:pPr>
            <a:r>
              <a:rPr lang="es-EC" i="1" dirty="0">
                <a:solidFill>
                  <a:schemeClr val="bg1"/>
                </a:solidFill>
                <a:ea typeface="Calibri" panose="020F0502020204030204" pitchFamily="34" charset="0"/>
                <a:cs typeface="Times New Roman" panose="02020603050405020304" pitchFamily="18" charset="0"/>
              </a:rPr>
              <a:t>Aunque el uso de un imán pueda parecer un método rudimentario es muy efectivo para saber si la pieza que tenemos es de oro, puede ser de gran ayuda. En ocasiones, puede tratarse de un material férrico bañado en oro.</a:t>
            </a:r>
            <a:endParaRPr lang="es-EC" sz="1200" i="1" dirty="0">
              <a:solidFill>
                <a:schemeClr val="bg1"/>
              </a:solidFill>
              <a:ea typeface="Calibri" panose="020F0502020204030204" pitchFamily="34" charset="0"/>
              <a:cs typeface="Times New Roman" panose="02020603050405020304" pitchFamily="18" charset="0"/>
            </a:endParaRPr>
          </a:p>
          <a:p>
            <a:pPr fontAlgn="base">
              <a:spcAft>
                <a:spcPts val="0"/>
              </a:spcAft>
            </a:pPr>
            <a:r>
              <a:rPr lang="es-EC" i="1" dirty="0">
                <a:solidFill>
                  <a:schemeClr val="bg1"/>
                </a:solidFill>
                <a:ea typeface="Times New Roman" panose="02020603050405020304" pitchFamily="18" charset="0"/>
              </a:rPr>
              <a:t>Puede que un imán pequeño no sea lo suficientemente efectivo, pero para ello </a:t>
            </a:r>
            <a:r>
              <a:rPr lang="es-EC" b="1" i="1" dirty="0">
                <a:solidFill>
                  <a:schemeClr val="bg1"/>
                </a:solidFill>
                <a:ea typeface="Times New Roman" panose="02020603050405020304" pitchFamily="18" charset="0"/>
              </a:rPr>
              <a:t>hay que tener un imán muy potente</a:t>
            </a:r>
            <a:r>
              <a:rPr lang="es-EC" i="1" dirty="0">
                <a:solidFill>
                  <a:schemeClr val="bg1"/>
                </a:solidFill>
                <a:ea typeface="Times New Roman" panose="02020603050405020304" pitchFamily="18" charset="0"/>
              </a:rPr>
              <a:t>, como los de neodimio, que son los más fuertes que podemos encontrar actualmente en el mercado.</a:t>
            </a:r>
            <a:endParaRPr lang="es-EC" sz="1400" i="1" dirty="0">
              <a:solidFill>
                <a:schemeClr val="bg1"/>
              </a:solidFill>
              <a:ea typeface="Times New Roman" panose="02020603050405020304" pitchFamily="18" charset="0"/>
            </a:endParaRPr>
          </a:p>
          <a:p>
            <a:pPr fontAlgn="base">
              <a:spcAft>
                <a:spcPts val="2100"/>
              </a:spcAft>
            </a:pPr>
            <a:r>
              <a:rPr lang="es-EC" i="1" dirty="0">
                <a:solidFill>
                  <a:schemeClr val="bg1"/>
                </a:solidFill>
                <a:ea typeface="Times New Roman" panose="02020603050405020304" pitchFamily="18" charset="0"/>
              </a:rPr>
              <a:t>Como ya sabemos, el oro no es un metal magnético y en caso de que al acercar el imán a la pieza que queremos comprobar, se acerca, queda confirmado que no es oro real</a:t>
            </a:r>
            <a:r>
              <a:rPr lang="es-EC" dirty="0">
                <a:solidFill>
                  <a:schemeClr val="bg1"/>
                </a:solidFill>
                <a:ea typeface="Times New Roman" panose="02020603050405020304" pitchFamily="18" charset="0"/>
              </a:rPr>
              <a:t>.</a:t>
            </a:r>
          </a:p>
          <a:p>
            <a:pPr fontAlgn="base">
              <a:spcAft>
                <a:spcPts val="2100"/>
              </a:spcAft>
            </a:pPr>
            <a:endParaRPr lang="es-EC" sz="1400" dirty="0">
              <a:solidFill>
                <a:schemeClr val="bg1"/>
              </a:solidFill>
              <a:effectLst/>
              <a:ea typeface="Times New Roman" panose="02020603050405020304" pitchFamily="18" charset="0"/>
            </a:endParaRPr>
          </a:p>
          <a:p>
            <a:pPr fontAlgn="base">
              <a:spcAft>
                <a:spcPts val="2100"/>
              </a:spcAft>
            </a:pPr>
            <a:endParaRPr lang="es-EC" dirty="0"/>
          </a:p>
          <a:p>
            <a:pPr fontAlgn="base">
              <a:spcAft>
                <a:spcPts val="2100"/>
              </a:spcAft>
            </a:pPr>
            <a:endParaRPr lang="es-EC" sz="1400" dirty="0">
              <a:effectLst/>
              <a:ea typeface="Times New Roman" panose="02020603050405020304" pitchFamily="18" charset="0"/>
            </a:endParaRPr>
          </a:p>
        </p:txBody>
      </p:sp>
    </p:spTree>
    <p:extLst>
      <p:ext uri="{BB962C8B-B14F-4D97-AF65-F5344CB8AC3E}">
        <p14:creationId xmlns:p14="http://schemas.microsoft.com/office/powerpoint/2010/main" val="2406200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p:cNvSpPr>
            <a:spLocks noGrp="1"/>
          </p:cNvSpPr>
          <p:nvPr>
            <p:ph type="sldNum" sz="quarter" idx="12"/>
          </p:nvPr>
        </p:nvSpPr>
        <p:spPr/>
        <p:txBody>
          <a:bodyPr/>
          <a:lstStyle/>
          <a:p>
            <a:pPr rtl="0"/>
            <a:fld id="{82EE24B5-652C-4DB5-B7C3-B5BBEC1280B1}" type="slidenum">
              <a:rPr lang="es-ES" noProof="0" smtClean="0"/>
              <a:t>9</a:t>
            </a:fld>
            <a:endParaRPr lang="es-ES" noProof="0" dirty="0"/>
          </a:p>
        </p:txBody>
      </p:sp>
      <p:sp>
        <p:nvSpPr>
          <p:cNvPr id="4" name="Título 3"/>
          <p:cNvSpPr>
            <a:spLocks noGrp="1"/>
          </p:cNvSpPr>
          <p:nvPr>
            <p:ph type="title"/>
          </p:nvPr>
        </p:nvSpPr>
        <p:spPr/>
        <p:txBody>
          <a:bodyPr/>
          <a:lstStyle/>
          <a:p>
            <a:r>
              <a:rPr lang="es-EC" dirty="0"/>
              <a:t>HERRAMIENTA ADECUADAS PARA PRUEBA EFICAZ</a:t>
            </a:r>
          </a:p>
        </p:txBody>
      </p:sp>
      <p:pic>
        <p:nvPicPr>
          <p:cNvPr id="10" name="Marcador de contenido 9"/>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93750" y="1825625"/>
            <a:ext cx="4138500" cy="4714402"/>
          </a:xfrm>
        </p:spPr>
      </p:pic>
      <p:pic>
        <p:nvPicPr>
          <p:cNvPr id="9" name="Marcador de contenido 8"/>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19327" y="1825625"/>
            <a:ext cx="5019346" cy="4351338"/>
          </a:xfrm>
        </p:spPr>
      </p:pic>
    </p:spTree>
    <p:extLst>
      <p:ext uri="{BB962C8B-B14F-4D97-AF65-F5344CB8AC3E}">
        <p14:creationId xmlns:p14="http://schemas.microsoft.com/office/powerpoint/2010/main" val="331241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p:cNvSpPr>
            <a:spLocks noGrp="1"/>
          </p:cNvSpPr>
          <p:nvPr>
            <p:ph type="sldNum" sz="quarter" idx="12"/>
          </p:nvPr>
        </p:nvSpPr>
        <p:spPr/>
        <p:txBody>
          <a:bodyPr/>
          <a:lstStyle/>
          <a:p>
            <a:pPr rtl="0"/>
            <a:fld id="{82EE24B5-652C-4DB5-B7C3-B5BBEC1280B1}" type="slidenum">
              <a:rPr lang="es-ES" noProof="0" smtClean="0"/>
              <a:t>10</a:t>
            </a:fld>
            <a:endParaRPr lang="es-ES" noProof="0" dirty="0"/>
          </a:p>
        </p:txBody>
      </p:sp>
      <p:sp>
        <p:nvSpPr>
          <p:cNvPr id="4" name="Título 3"/>
          <p:cNvSpPr>
            <a:spLocks noGrp="1"/>
          </p:cNvSpPr>
          <p:nvPr>
            <p:ph type="title"/>
          </p:nvPr>
        </p:nvSpPr>
        <p:spPr/>
        <p:txBody>
          <a:bodyPr/>
          <a:lstStyle/>
          <a:p>
            <a:r>
              <a:rPr lang="es-EC" dirty="0"/>
              <a:t>HERRAMIENTA ADECUADAS PARA PRUEBA EFICAZ</a:t>
            </a:r>
          </a:p>
        </p:txBody>
      </p:sp>
      <p:pic>
        <p:nvPicPr>
          <p:cNvPr id="7" name="Marcador de contenido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947160"/>
            <a:ext cx="5181600" cy="4108268"/>
          </a:xfrm>
        </p:spPr>
      </p:pic>
      <p:pic>
        <p:nvPicPr>
          <p:cNvPr id="8" name="Marcador de contenido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44209" y="1524000"/>
            <a:ext cx="5711687" cy="3657600"/>
          </a:xfrm>
        </p:spPr>
      </p:pic>
    </p:spTree>
    <p:extLst>
      <p:ext uri="{BB962C8B-B14F-4D97-AF65-F5344CB8AC3E}">
        <p14:creationId xmlns:p14="http://schemas.microsoft.com/office/powerpoint/2010/main" val="631124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pPr rtl="0"/>
            <a:fld id="{82EE24B5-652C-4DB5-B7C3-B5BBEC1280B1}" type="slidenum">
              <a:rPr lang="es-ES" noProof="0" smtClean="0"/>
              <a:t>11</a:t>
            </a:fld>
            <a:endParaRPr lang="es-ES" noProof="0" dirty="0"/>
          </a:p>
        </p:txBody>
      </p:sp>
      <p:sp>
        <p:nvSpPr>
          <p:cNvPr id="3" name="Título 2"/>
          <p:cNvSpPr>
            <a:spLocks noGrp="1"/>
          </p:cNvSpPr>
          <p:nvPr>
            <p:ph type="title"/>
          </p:nvPr>
        </p:nvSpPr>
        <p:spPr/>
        <p:txBody>
          <a:bodyPr/>
          <a:lstStyle/>
          <a:p>
            <a:r>
              <a:rPr lang="es-EC" dirty="0"/>
              <a:t>HERRAMIENTA ADECUADAS PARA PRUEBA EFICAZ</a:t>
            </a:r>
          </a:p>
        </p:txBody>
      </p:sp>
      <p:pic>
        <p:nvPicPr>
          <p:cNvPr id="6" name="Marcador de contenido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892287" y="1690688"/>
            <a:ext cx="5181600" cy="4215110"/>
          </a:xfrm>
        </p:spPr>
      </p:pic>
    </p:spTree>
    <p:extLst>
      <p:ext uri="{BB962C8B-B14F-4D97-AF65-F5344CB8AC3E}">
        <p14:creationId xmlns:p14="http://schemas.microsoft.com/office/powerpoint/2010/main" val="489270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C" dirty="0"/>
              <a:t>RECONOCIMIENTO DE ORO BLANCO</a:t>
            </a:r>
            <a:br>
              <a:rPr lang="es-EC" dirty="0"/>
            </a:br>
            <a:endParaRPr lang="es-EC" dirty="0"/>
          </a:p>
        </p:txBody>
      </p:sp>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12</a:t>
            </a:fld>
            <a:endParaRPr lang="es-ES" noProof="0" dirty="0"/>
          </a:p>
        </p:txBody>
      </p:sp>
      <p:pic>
        <p:nvPicPr>
          <p:cNvPr id="14" name="Marcador de posición de imagen 13"/>
          <p:cNvPicPr>
            <a:picLocks noGrp="1" noChangeAspect="1"/>
          </p:cNvPicPr>
          <p:nvPr>
            <p:ph type="pic" idx="1"/>
          </p:nvPr>
        </p:nvPicPr>
        <p:blipFill>
          <a:blip r:embed="rId2" cstate="hqprint">
            <a:extLst>
              <a:ext uri="{28A0092B-C50C-407E-A947-70E740481C1C}">
                <a14:useLocalDpi xmlns:a14="http://schemas.microsoft.com/office/drawing/2010/main" val="0"/>
              </a:ext>
            </a:extLst>
          </a:blip>
          <a:srcRect/>
          <a:stretch>
            <a:fillRect/>
          </a:stretch>
        </p:blipFill>
        <p:spPr>
          <a:xfrm>
            <a:off x="0" y="1719473"/>
            <a:ext cx="5314122" cy="4190790"/>
          </a:xfrm>
        </p:spPr>
      </p:pic>
      <p:sp>
        <p:nvSpPr>
          <p:cNvPr id="12" name="Rectángulo 11"/>
          <p:cNvSpPr/>
          <p:nvPr/>
        </p:nvSpPr>
        <p:spPr>
          <a:xfrm>
            <a:off x="5535904" y="517486"/>
            <a:ext cx="6096000" cy="4524315"/>
          </a:xfrm>
          <a:prstGeom prst="rect">
            <a:avLst/>
          </a:prstGeom>
        </p:spPr>
        <p:txBody>
          <a:bodyPr>
            <a:spAutoFit/>
          </a:bodyPr>
          <a:lstStyle/>
          <a:p>
            <a:r>
              <a:rPr lang="es-ES" i="1" u="sng" dirty="0">
                <a:solidFill>
                  <a:schemeClr val="bg1"/>
                </a:solidFill>
                <a:latin typeface="Crimson Text"/>
              </a:rPr>
              <a:t>¿QUE ES EL ORO BLANCO?</a:t>
            </a:r>
          </a:p>
          <a:p>
            <a:r>
              <a:rPr lang="es-ES" i="1" dirty="0">
                <a:solidFill>
                  <a:schemeClr val="bg1"/>
                </a:solidFill>
                <a:latin typeface="Nanum Gothic"/>
              </a:rPr>
              <a:t>El</a:t>
            </a:r>
            <a:r>
              <a:rPr lang="es-ES" b="1" i="1" dirty="0">
                <a:solidFill>
                  <a:schemeClr val="bg1"/>
                </a:solidFill>
                <a:latin typeface="Nanum Gothic"/>
              </a:rPr>
              <a:t> oro blanco es el resultado de la fusión del oro con diversos metales</a:t>
            </a:r>
            <a:r>
              <a:rPr lang="es-ES" i="1" dirty="0">
                <a:solidFill>
                  <a:schemeClr val="bg1"/>
                </a:solidFill>
                <a:latin typeface="Nanum Gothic"/>
              </a:rPr>
              <a:t>. Se trata de una aleación donde el</a:t>
            </a:r>
            <a:r>
              <a:rPr lang="es-ES" b="1" i="1" dirty="0">
                <a:solidFill>
                  <a:schemeClr val="bg1"/>
                </a:solidFill>
                <a:latin typeface="Nanum Gothic"/>
              </a:rPr>
              <a:t> material principal está constituido por el oro</a:t>
            </a:r>
            <a:r>
              <a:rPr lang="es-ES" i="1" dirty="0">
                <a:solidFill>
                  <a:schemeClr val="bg1"/>
                </a:solidFill>
                <a:latin typeface="Nanum Gothic"/>
              </a:rPr>
              <a:t>, pero al estar combinado con otro metal crea piezas de tono blanco. </a:t>
            </a:r>
          </a:p>
          <a:p>
            <a:r>
              <a:rPr lang="es-ES" i="1" dirty="0">
                <a:solidFill>
                  <a:schemeClr val="bg1"/>
                </a:solidFill>
                <a:latin typeface="Nanum Gothic"/>
              </a:rPr>
              <a:t>Para la aleación conjunta con el oro, se suelen utilizar algunos metales preciosos, como la</a:t>
            </a:r>
            <a:r>
              <a:rPr lang="es-ES" b="1" i="1" dirty="0">
                <a:solidFill>
                  <a:schemeClr val="bg1"/>
                </a:solidFill>
                <a:latin typeface="Nanum Gothic"/>
              </a:rPr>
              <a:t> plata pura, el níquel o el paladio</a:t>
            </a:r>
            <a:r>
              <a:rPr lang="es-ES" i="1" dirty="0">
                <a:solidFill>
                  <a:schemeClr val="bg1"/>
                </a:solidFill>
                <a:latin typeface="Nanum Gothic"/>
              </a:rPr>
              <a:t>. </a:t>
            </a:r>
          </a:p>
          <a:p>
            <a:r>
              <a:rPr lang="es-ES" i="1" dirty="0">
                <a:solidFill>
                  <a:schemeClr val="bg1"/>
                </a:solidFill>
                <a:latin typeface="Nanum Gothic"/>
              </a:rPr>
              <a:t>Este tipo de aleaciones de oro se utilizan para crear </a:t>
            </a:r>
            <a:r>
              <a:rPr lang="es-ES" b="1" i="1" dirty="0">
                <a:solidFill>
                  <a:schemeClr val="bg1"/>
                </a:solidFill>
                <a:latin typeface="Nanum Gothic"/>
              </a:rPr>
              <a:t>piezas de metal blanco y joyas preciosas.</a:t>
            </a:r>
            <a:r>
              <a:rPr lang="es-ES" i="1" dirty="0">
                <a:solidFill>
                  <a:schemeClr val="bg1"/>
                </a:solidFill>
                <a:latin typeface="Nanum Gothic"/>
              </a:rPr>
              <a:t> En cualquier joyería encontrarás multitud de pulseras, collares y piezas de oro blanco. La </a:t>
            </a:r>
            <a:r>
              <a:rPr lang="es-ES" b="1" i="1" dirty="0">
                <a:solidFill>
                  <a:schemeClr val="bg1"/>
                </a:solidFill>
                <a:latin typeface="Nanum Gothic"/>
              </a:rPr>
              <a:t>gran oferta de joyas creadas con este material </a:t>
            </a:r>
            <a:r>
              <a:rPr lang="es-ES" i="1" dirty="0">
                <a:solidFill>
                  <a:schemeClr val="bg1"/>
                </a:solidFill>
                <a:latin typeface="Nanum Gothic"/>
              </a:rPr>
              <a:t>se debe a que posee un </a:t>
            </a:r>
            <a:r>
              <a:rPr lang="es-ES" b="1" i="1" dirty="0">
                <a:solidFill>
                  <a:schemeClr val="bg1"/>
                </a:solidFill>
                <a:latin typeface="Nanum Gothic"/>
              </a:rPr>
              <a:t>menor coste</a:t>
            </a:r>
            <a:r>
              <a:rPr lang="es-ES" i="1" dirty="0">
                <a:solidFill>
                  <a:schemeClr val="bg1"/>
                </a:solidFill>
                <a:latin typeface="Nanum Gothic"/>
              </a:rPr>
              <a:t> que otros materiales más raros, como el platino, y el resultado es parecido.</a:t>
            </a:r>
            <a:endParaRPr lang="es-ES" b="0" i="1" dirty="0">
              <a:solidFill>
                <a:schemeClr val="bg1"/>
              </a:solidFill>
              <a:effectLst/>
              <a:latin typeface="Nanum Gothic"/>
            </a:endParaRPr>
          </a:p>
        </p:txBody>
      </p:sp>
      <p:sp>
        <p:nvSpPr>
          <p:cNvPr id="13" name="objeto 6" descr="Rectángulo beige">
            <a:extLst>
              <a:ext uri="{FF2B5EF4-FFF2-40B4-BE49-F238E27FC236}">
                <a16:creationId xmlns:a16="http://schemas.microsoft.com/office/drawing/2014/main" id="{B0C70F64-F3E5-413B-AF4F-E15CE944B761}"/>
              </a:ext>
            </a:extLst>
          </p:cNvPr>
          <p:cNvSpPr/>
          <p:nvPr/>
        </p:nvSpPr>
        <p:spPr>
          <a:xfrm>
            <a:off x="989622" y="1423909"/>
            <a:ext cx="3312000" cy="0"/>
          </a:xfrm>
          <a:custGeom>
            <a:avLst/>
            <a:gdLst/>
            <a:ahLst/>
            <a:cxnLst/>
            <a:rect l="l" t="t" r="r" b="b"/>
            <a:pathLst>
              <a:path w="4206240">
                <a:moveTo>
                  <a:pt x="0" y="0"/>
                </a:moveTo>
                <a:lnTo>
                  <a:pt x="4206240" y="0"/>
                </a:lnTo>
              </a:path>
            </a:pathLst>
          </a:custGeom>
          <a:ln w="54863">
            <a:solidFill>
              <a:schemeClr val="accent1"/>
            </a:solidFill>
          </a:ln>
        </p:spPr>
        <p:txBody>
          <a:bodyPr wrap="square" lIns="0" tIns="0" rIns="0" bIns="0" rtlCol="0"/>
          <a:lstStyle/>
          <a:p>
            <a:pPr rtl="0"/>
            <a:endParaRPr lang="es-ES" dirty="0"/>
          </a:p>
        </p:txBody>
      </p:sp>
    </p:spTree>
    <p:extLst>
      <p:ext uri="{BB962C8B-B14F-4D97-AF65-F5344CB8AC3E}">
        <p14:creationId xmlns:p14="http://schemas.microsoft.com/office/powerpoint/2010/main" val="3477061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551927" y="298476"/>
            <a:ext cx="6170882" cy="707886"/>
          </a:xfrm>
          <a:prstGeom prst="rect">
            <a:avLst/>
          </a:prstGeom>
          <a:noFill/>
        </p:spPr>
        <p:txBody>
          <a:bodyPr wrap="square" rtlCol="0">
            <a:spAutoFit/>
          </a:bodyPr>
          <a:lstStyle/>
          <a:p>
            <a:r>
              <a:rPr lang="es-EC" sz="4000" b="1" dirty="0"/>
              <a:t>MATERIALES COMERCIALES.</a:t>
            </a:r>
          </a:p>
        </p:txBody>
      </p:sp>
      <p:sp>
        <p:nvSpPr>
          <p:cNvPr id="6" name="CuadroTexto 5"/>
          <p:cNvSpPr txBox="1"/>
          <p:nvPr/>
        </p:nvSpPr>
        <p:spPr>
          <a:xfrm>
            <a:off x="1225846" y="2738349"/>
            <a:ext cx="7733212" cy="2062103"/>
          </a:xfrm>
          <a:prstGeom prst="rect">
            <a:avLst/>
          </a:prstGeom>
          <a:noFill/>
        </p:spPr>
        <p:txBody>
          <a:bodyPr wrap="square" rtlCol="0">
            <a:spAutoFit/>
          </a:bodyPr>
          <a:lstStyle/>
          <a:p>
            <a:pPr marL="457200" indent="-457200">
              <a:buFontTx/>
              <a:buChar char="-"/>
            </a:pPr>
            <a:r>
              <a:rPr lang="es-EC" sz="3200" dirty="0"/>
              <a:t>ORO		</a:t>
            </a:r>
            <a:r>
              <a:rPr lang="es-EC" sz="3200" dirty="0">
                <a:solidFill>
                  <a:srgbClr val="FFFF00"/>
                </a:solidFill>
                <a:effectLst>
                  <a:outerShdw blurRad="38100" dist="38100" dir="2700000" algn="tl">
                    <a:srgbClr val="000000">
                      <a:alpha val="43137"/>
                    </a:srgbClr>
                  </a:outerShdw>
                </a:effectLst>
              </a:rPr>
              <a:t>AMARILLO</a:t>
            </a:r>
          </a:p>
          <a:p>
            <a:pPr marL="457200" indent="-457200">
              <a:buFontTx/>
              <a:buChar char="-"/>
            </a:pPr>
            <a:r>
              <a:rPr lang="es-EC" sz="3200" dirty="0"/>
              <a:t>PLATINO</a:t>
            </a:r>
          </a:p>
          <a:p>
            <a:pPr marL="457200" indent="-457200">
              <a:buFontTx/>
              <a:buChar char="-"/>
            </a:pPr>
            <a:r>
              <a:rPr lang="es-EC" sz="3200" dirty="0"/>
              <a:t>RODIO		</a:t>
            </a:r>
            <a:r>
              <a:rPr lang="es-EC" sz="3200" b="1" dirty="0">
                <a:solidFill>
                  <a:schemeClr val="bg1"/>
                </a:solidFill>
                <a:effectLst>
                  <a:outerShdw blurRad="38100" dist="38100" dir="2700000" algn="tl">
                    <a:srgbClr val="000000">
                      <a:alpha val="43137"/>
                    </a:srgbClr>
                  </a:outerShdw>
                </a:effectLst>
              </a:rPr>
              <a:t>BLANCO</a:t>
            </a:r>
          </a:p>
          <a:p>
            <a:pPr marL="457200" indent="-457200">
              <a:buFontTx/>
              <a:buChar char="-"/>
            </a:pPr>
            <a:r>
              <a:rPr lang="es-EC" sz="3200" dirty="0"/>
              <a:t>PALADIO</a:t>
            </a:r>
          </a:p>
        </p:txBody>
      </p:sp>
      <p:sp>
        <p:nvSpPr>
          <p:cNvPr id="7" name="CuadroTexto 6"/>
          <p:cNvSpPr txBox="1"/>
          <p:nvPr/>
        </p:nvSpPr>
        <p:spPr>
          <a:xfrm>
            <a:off x="9119936" y="2970784"/>
            <a:ext cx="2634916" cy="646331"/>
          </a:xfrm>
          <a:prstGeom prst="rect">
            <a:avLst/>
          </a:prstGeom>
          <a:noFill/>
        </p:spPr>
        <p:txBody>
          <a:bodyPr wrap="square" rtlCol="0">
            <a:spAutoFit/>
          </a:bodyPr>
          <a:lstStyle/>
          <a:p>
            <a:r>
              <a:rPr lang="es-EC" dirty="0"/>
              <a:t>Platino: Blando, dúctil y de color blanco grisáceo.</a:t>
            </a:r>
          </a:p>
        </p:txBody>
      </p:sp>
      <p:pic>
        <p:nvPicPr>
          <p:cNvPr id="8" name="Imagen 7"/>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6263984" y="4314880"/>
            <a:ext cx="2394284" cy="1596189"/>
          </a:xfrm>
          <a:prstGeom prst="rect">
            <a:avLst/>
          </a:prstGeom>
        </p:spPr>
      </p:pic>
      <p:sp>
        <p:nvSpPr>
          <p:cNvPr id="9" name="CuadroTexto 8"/>
          <p:cNvSpPr txBox="1"/>
          <p:nvPr/>
        </p:nvSpPr>
        <p:spPr>
          <a:xfrm>
            <a:off x="9119936" y="4374310"/>
            <a:ext cx="2863517" cy="1477328"/>
          </a:xfrm>
          <a:prstGeom prst="rect">
            <a:avLst/>
          </a:prstGeom>
          <a:noFill/>
        </p:spPr>
        <p:txBody>
          <a:bodyPr wrap="square" rtlCol="0">
            <a:spAutoFit/>
          </a:bodyPr>
          <a:lstStyle/>
          <a:p>
            <a:r>
              <a:rPr lang="es-EC" dirty="0"/>
              <a:t>Rodio: Duro de color blanco plateado. El método más utilizado para aplicar acabados de rodio es el proceso de galvanoplastia.</a:t>
            </a:r>
          </a:p>
        </p:txBody>
      </p:sp>
      <p:pic>
        <p:nvPicPr>
          <p:cNvPr id="11" name="Imagen 10"/>
          <p:cNvPicPr>
            <a:picLocks noChangeAspect="1"/>
          </p:cNvPicPr>
          <p:nvPr/>
        </p:nvPicPr>
        <p:blipFill rotWithShape="1">
          <a:blip r:embed="rId3"/>
          <a:srcRect l="29704" t="29815" r="51250" b="36485"/>
          <a:stretch>
            <a:fillRect/>
          </a:stretch>
        </p:blipFill>
        <p:spPr>
          <a:xfrm>
            <a:off x="1542445" y="4823104"/>
            <a:ext cx="1770881" cy="1761706"/>
          </a:xfrm>
          <a:prstGeom prst="rect">
            <a:avLst/>
          </a:prstGeom>
        </p:spPr>
      </p:pic>
      <p:sp>
        <p:nvSpPr>
          <p:cNvPr id="12" name="CuadroTexto 11"/>
          <p:cNvSpPr txBox="1"/>
          <p:nvPr/>
        </p:nvSpPr>
        <p:spPr>
          <a:xfrm>
            <a:off x="3349420" y="4912646"/>
            <a:ext cx="2753686" cy="1477328"/>
          </a:xfrm>
          <a:prstGeom prst="rect">
            <a:avLst/>
          </a:prstGeom>
          <a:noFill/>
        </p:spPr>
        <p:txBody>
          <a:bodyPr wrap="square" rtlCol="0">
            <a:spAutoFit/>
          </a:bodyPr>
          <a:lstStyle/>
          <a:p>
            <a:r>
              <a:rPr lang="es-EC" dirty="0"/>
              <a:t>Paladio: color blanco plateado metálico, es fundamental en la aleación de oro, para producir oro blanco.</a:t>
            </a:r>
          </a:p>
        </p:txBody>
      </p:sp>
      <p:pic>
        <p:nvPicPr>
          <p:cNvPr id="10" name="Imagen 9"/>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6414375" y="2634361"/>
            <a:ext cx="2093502" cy="1319179"/>
          </a:xfrm>
          <a:prstGeom prst="rect">
            <a:avLst/>
          </a:prstGeom>
        </p:spPr>
      </p:pic>
      <p:cxnSp>
        <p:nvCxnSpPr>
          <p:cNvPr id="13" name="Conector recto de flecha 12"/>
          <p:cNvCxnSpPr/>
          <p:nvPr/>
        </p:nvCxnSpPr>
        <p:spPr>
          <a:xfrm>
            <a:off x="3188262" y="3455299"/>
            <a:ext cx="752559" cy="4126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Conector recto de flecha 18"/>
          <p:cNvCxnSpPr/>
          <p:nvPr/>
        </p:nvCxnSpPr>
        <p:spPr>
          <a:xfrm>
            <a:off x="2686556" y="3041335"/>
            <a:ext cx="114097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Conector recto de flecha 20"/>
          <p:cNvCxnSpPr/>
          <p:nvPr/>
        </p:nvCxnSpPr>
        <p:spPr>
          <a:xfrm flipV="1">
            <a:off x="3017665" y="4037926"/>
            <a:ext cx="890788" cy="809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Conector recto de flecha 22"/>
          <p:cNvCxnSpPr/>
          <p:nvPr/>
        </p:nvCxnSpPr>
        <p:spPr>
          <a:xfrm flipV="1">
            <a:off x="3313326" y="4199766"/>
            <a:ext cx="627495" cy="2913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3927981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546684" y="476094"/>
            <a:ext cx="7098631" cy="707886"/>
          </a:xfrm>
          <a:prstGeom prst="rect">
            <a:avLst/>
          </a:prstGeom>
          <a:noFill/>
        </p:spPr>
        <p:txBody>
          <a:bodyPr wrap="square" rtlCol="0">
            <a:spAutoFit/>
          </a:bodyPr>
          <a:lstStyle/>
          <a:p>
            <a:r>
              <a:rPr lang="es-EC" sz="4000" b="1" dirty="0"/>
              <a:t>MATERIALES NO COMERCIALES.</a:t>
            </a:r>
          </a:p>
        </p:txBody>
      </p:sp>
      <p:sp>
        <p:nvSpPr>
          <p:cNvPr id="6" name="CuadroTexto 5"/>
          <p:cNvSpPr txBox="1"/>
          <p:nvPr/>
        </p:nvSpPr>
        <p:spPr>
          <a:xfrm>
            <a:off x="780904" y="1908061"/>
            <a:ext cx="7733212" cy="1569660"/>
          </a:xfrm>
          <a:prstGeom prst="rect">
            <a:avLst/>
          </a:prstGeom>
          <a:noFill/>
        </p:spPr>
        <p:txBody>
          <a:bodyPr wrap="square" rtlCol="0">
            <a:spAutoFit/>
          </a:bodyPr>
          <a:lstStyle/>
          <a:p>
            <a:pPr marL="457200" indent="-457200">
              <a:buFontTx/>
              <a:buChar char="-"/>
            </a:pPr>
            <a:r>
              <a:rPr lang="es-EC" sz="3200" dirty="0"/>
              <a:t>PLATA</a:t>
            </a:r>
          </a:p>
          <a:p>
            <a:pPr marL="457200" indent="-457200">
              <a:buFontTx/>
              <a:buChar char="-"/>
            </a:pPr>
            <a:r>
              <a:rPr lang="es-EC" sz="3200" dirty="0"/>
              <a:t>ACERO, TITANIO, NIQUEL.</a:t>
            </a:r>
          </a:p>
          <a:p>
            <a:pPr marL="457200" indent="-457200">
              <a:buFontTx/>
              <a:buChar char="-"/>
            </a:pPr>
            <a:r>
              <a:rPr lang="es-EC" sz="3200" dirty="0"/>
              <a:t>ORO GOLD FILLED</a:t>
            </a: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95753" y="1872508"/>
            <a:ext cx="1640765" cy="1640765"/>
          </a:xfrm>
          <a:prstGeom prst="rect">
            <a:avLst/>
          </a:prstGeom>
        </p:spPr>
      </p:pic>
      <p:sp>
        <p:nvSpPr>
          <p:cNvPr id="7" name="CuadroTexto 6"/>
          <p:cNvSpPr txBox="1"/>
          <p:nvPr/>
        </p:nvSpPr>
        <p:spPr>
          <a:xfrm>
            <a:off x="9119936" y="2923674"/>
            <a:ext cx="2634916" cy="923330"/>
          </a:xfrm>
          <a:prstGeom prst="rect">
            <a:avLst/>
          </a:prstGeom>
          <a:noFill/>
        </p:spPr>
        <p:txBody>
          <a:bodyPr wrap="square" rtlCol="0">
            <a:spAutoFit/>
          </a:bodyPr>
          <a:lstStyle/>
          <a:p>
            <a:r>
              <a:rPr lang="es-EC" dirty="0"/>
              <a:t>Plata: Color blanco, blanda, marca 925, reacción blanco lechoso.</a:t>
            </a:r>
          </a:p>
        </p:txBody>
      </p:sp>
      <p:pic>
        <p:nvPicPr>
          <p:cNvPr id="8" name="Imagen 7"/>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6648844" y="3769750"/>
            <a:ext cx="1987674" cy="1483264"/>
          </a:xfrm>
          <a:prstGeom prst="rect">
            <a:avLst/>
          </a:prstGeom>
        </p:spPr>
      </p:pic>
      <p:sp>
        <p:nvSpPr>
          <p:cNvPr id="9" name="CuadroTexto 8"/>
          <p:cNvSpPr txBox="1"/>
          <p:nvPr/>
        </p:nvSpPr>
        <p:spPr>
          <a:xfrm>
            <a:off x="9119936" y="4308009"/>
            <a:ext cx="2863517" cy="2031325"/>
          </a:xfrm>
          <a:prstGeom prst="rect">
            <a:avLst/>
          </a:prstGeom>
          <a:noFill/>
        </p:spPr>
        <p:txBody>
          <a:bodyPr wrap="square" rtlCol="0">
            <a:spAutoFit/>
          </a:bodyPr>
          <a:lstStyle/>
          <a:p>
            <a:r>
              <a:rPr lang="es-EC" dirty="0"/>
              <a:t>Acero: Color blanco más opaca que la plata, duro no le entra la lima, marca STEEL, no reacciona, joyas de marca TOUS, BVLGARI.</a:t>
            </a:r>
          </a:p>
          <a:p>
            <a:r>
              <a:rPr lang="es-EC" dirty="0"/>
              <a:t>Níquel: Reacción amarillosa con el acido.</a:t>
            </a:r>
          </a:p>
        </p:txBody>
      </p:sp>
      <p:sp>
        <p:nvSpPr>
          <p:cNvPr id="12" name="CuadroTexto 11"/>
          <p:cNvSpPr txBox="1"/>
          <p:nvPr/>
        </p:nvSpPr>
        <p:spPr>
          <a:xfrm>
            <a:off x="1432998" y="3878636"/>
            <a:ext cx="4110159" cy="646331"/>
          </a:xfrm>
          <a:prstGeom prst="rect">
            <a:avLst/>
          </a:prstGeom>
          <a:noFill/>
        </p:spPr>
        <p:txBody>
          <a:bodyPr wrap="square" rtlCol="0">
            <a:spAutoFit/>
          </a:bodyPr>
          <a:lstStyle/>
          <a:p>
            <a:r>
              <a:rPr lang="es-EC" dirty="0"/>
              <a:t>Joyas enchapadas, bañadas, revestidas, laminadas. (ROMMANEL, ESIKA, ETC.)</a:t>
            </a:r>
          </a:p>
        </p:txBody>
      </p:sp>
      <p:sp>
        <p:nvSpPr>
          <p:cNvPr id="5" name="Rectángulo 4"/>
          <p:cNvSpPr/>
          <p:nvPr/>
        </p:nvSpPr>
        <p:spPr>
          <a:xfrm>
            <a:off x="1007383" y="5323671"/>
            <a:ext cx="7280253" cy="738664"/>
          </a:xfrm>
          <a:prstGeom prst="rect">
            <a:avLst/>
          </a:prstGeom>
        </p:spPr>
        <p:txBody>
          <a:bodyPr wrap="square">
            <a:spAutoFit/>
          </a:bodyPr>
          <a:lstStyle/>
          <a:p>
            <a:r>
              <a:rPr lang="es-EC" sz="1400" b="1" dirty="0"/>
              <a:t>Níquel</a:t>
            </a:r>
            <a:r>
              <a:rPr lang="es-EC" sz="1400" dirty="0"/>
              <a:t> ha sido utilizado en la joyería para baño galvánico/electrolítico, sin embargo, su uso ha sido descontinuado, desde que lo prohibieron en productos que estén en contacto con la piel por sus efectos nocivos. Era una opción económica para blanquear metales.</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076073" y="419999"/>
            <a:ext cx="5406190" cy="707886"/>
          </a:xfrm>
          <a:prstGeom prst="rect">
            <a:avLst/>
          </a:prstGeom>
          <a:noFill/>
        </p:spPr>
        <p:txBody>
          <a:bodyPr wrap="square" rtlCol="0">
            <a:spAutoFit/>
          </a:bodyPr>
          <a:lstStyle/>
          <a:p>
            <a:pPr algn="ctr"/>
            <a:r>
              <a:rPr lang="es-EC" sz="4000" b="1" dirty="0"/>
              <a:t>CLASIFICACIÓN DEL ORO</a:t>
            </a:r>
          </a:p>
        </p:txBody>
      </p:sp>
      <p:sp>
        <p:nvSpPr>
          <p:cNvPr id="6" name="CuadroTexto 5"/>
          <p:cNvSpPr txBox="1"/>
          <p:nvPr/>
        </p:nvSpPr>
        <p:spPr>
          <a:xfrm>
            <a:off x="4152212" y="1742787"/>
            <a:ext cx="3887576" cy="584775"/>
          </a:xfrm>
          <a:prstGeom prst="rect">
            <a:avLst/>
          </a:prstGeom>
          <a:noFill/>
        </p:spPr>
        <p:txBody>
          <a:bodyPr wrap="square" rtlCol="0">
            <a:spAutoFit/>
          </a:bodyPr>
          <a:lstStyle/>
          <a:p>
            <a:pPr marL="457200" indent="-457200">
              <a:buFontTx/>
              <a:buChar char="-"/>
            </a:pPr>
            <a:r>
              <a:rPr lang="es-EC" sz="3200" dirty="0"/>
              <a:t>SEGÚN SU PUREZA</a:t>
            </a:r>
          </a:p>
        </p:txBody>
      </p:sp>
      <p:graphicFrame>
        <p:nvGraphicFramePr>
          <p:cNvPr id="15" name="Tabla 14"/>
          <p:cNvGraphicFramePr>
            <a:graphicFrameLocks noGrp="1"/>
          </p:cNvGraphicFramePr>
          <p:nvPr>
            <p:extLst>
              <p:ext uri="{D42A27DB-BD31-4B8C-83A1-F6EECF244321}">
                <p14:modId xmlns:p14="http://schemas.microsoft.com/office/powerpoint/2010/main" val="1889082135"/>
              </p:ext>
            </p:extLst>
          </p:nvPr>
        </p:nvGraphicFramePr>
        <p:xfrm>
          <a:off x="3543968" y="2942464"/>
          <a:ext cx="4470400" cy="3276813"/>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362790">
                <a:tc>
                  <a:txBody>
                    <a:bodyPr/>
                    <a:lstStyle/>
                    <a:p>
                      <a:pPr algn="ctr" rtl="0" fontAlgn="ctr"/>
                      <a:r>
                        <a:rPr lang="es-EC" sz="1800" u="none" strike="noStrike" dirty="0">
                          <a:effectLst/>
                        </a:rPr>
                        <a:t>Pureza</a:t>
                      </a:r>
                      <a:endParaRPr lang="es-EC"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dirty="0">
                          <a:effectLst/>
                        </a:rPr>
                        <a:t>Quilates</a:t>
                      </a:r>
                      <a:endParaRPr lang="es-EC"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Reacción</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362790">
                <a:tc>
                  <a:txBody>
                    <a:bodyPr/>
                    <a:lstStyle/>
                    <a:p>
                      <a:pPr algn="ctr" rtl="0" fontAlgn="ctr"/>
                      <a:r>
                        <a:rPr lang="es-EC" sz="1800" u="none" strike="noStrike">
                          <a:effectLst/>
                        </a:rPr>
                        <a:t>417</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10K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Blanco lechoso</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362790">
                <a:tc>
                  <a:txBody>
                    <a:bodyPr/>
                    <a:lstStyle/>
                    <a:p>
                      <a:pPr algn="ctr" rtl="0" fontAlgn="ctr"/>
                      <a:r>
                        <a:rPr lang="es-EC" sz="1800" u="none" strike="noStrike">
                          <a:effectLst/>
                        </a:rPr>
                        <a:t>500</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12K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Mancha café y lechoso</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362790">
                <a:tc>
                  <a:txBody>
                    <a:bodyPr/>
                    <a:lstStyle/>
                    <a:p>
                      <a:pPr algn="ctr" rtl="0" fontAlgn="ctr"/>
                      <a:r>
                        <a:rPr lang="es-EC" sz="1800" u="none" strike="noStrike">
                          <a:effectLst/>
                        </a:rPr>
                        <a:t>585</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14K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Mancha </a:t>
                      </a:r>
                      <a:r>
                        <a:rPr lang="es-EC" sz="1800" u="none" strike="noStrike" dirty="0" err="1">
                          <a:effectLst/>
                        </a:rPr>
                        <a:t>cafe</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362790">
                <a:tc>
                  <a:txBody>
                    <a:bodyPr/>
                    <a:lstStyle/>
                    <a:p>
                      <a:pPr algn="ctr" rtl="0" fontAlgn="ctr"/>
                      <a:r>
                        <a:rPr lang="es-EC" sz="1800" u="none" strike="noStrike">
                          <a:effectLst/>
                        </a:rPr>
                        <a:t>667</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16K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Mancha poco café</a:t>
                      </a:r>
                    </a:p>
                  </a:txBody>
                  <a:tcPr marL="9525" marR="9525" marT="9525" marB="0" anchor="b"/>
                </a:tc>
                <a:extLst>
                  <a:ext uri="{0D108BD9-81ED-4DB2-BD59-A6C34878D82A}">
                    <a16:rowId xmlns:a16="http://schemas.microsoft.com/office/drawing/2014/main" val="10004"/>
                  </a:ext>
                </a:extLst>
              </a:tr>
              <a:tr h="362790">
                <a:tc>
                  <a:txBody>
                    <a:bodyPr/>
                    <a:lstStyle/>
                    <a:p>
                      <a:pPr algn="ctr" rtl="0" fontAlgn="ctr"/>
                      <a:r>
                        <a:rPr lang="es-EC" sz="1800" u="none" strike="noStrike">
                          <a:effectLst/>
                        </a:rPr>
                        <a:t>750</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18K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Ninguna</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362790">
                <a:tc>
                  <a:txBody>
                    <a:bodyPr/>
                    <a:lstStyle/>
                    <a:p>
                      <a:pPr algn="ctr" rtl="0" fontAlgn="ctr"/>
                      <a:r>
                        <a:rPr lang="es-EC" sz="1800" u="none" strike="noStrike">
                          <a:effectLst/>
                        </a:rPr>
                        <a:t>833</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20K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Ninguna</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362790">
                <a:tc>
                  <a:txBody>
                    <a:bodyPr/>
                    <a:lstStyle/>
                    <a:p>
                      <a:pPr algn="ctr" rtl="0" fontAlgn="ctr"/>
                      <a:r>
                        <a:rPr lang="es-EC" sz="1800" u="none" strike="noStrike">
                          <a:effectLst/>
                        </a:rPr>
                        <a:t>917</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22K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Ninguna</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374493">
                <a:tc>
                  <a:txBody>
                    <a:bodyPr/>
                    <a:lstStyle/>
                    <a:p>
                      <a:pPr algn="ctr" rtl="0" fontAlgn="ctr"/>
                      <a:r>
                        <a:rPr lang="es-EC" sz="1800" u="none" strike="noStrike">
                          <a:effectLst/>
                        </a:rPr>
                        <a:t>999</a:t>
                      </a:r>
                      <a:endParaRPr lang="es-EC"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b"/>
                      <a:r>
                        <a:rPr lang="es-EC" sz="1800" u="none" strike="noStrike">
                          <a:effectLst/>
                        </a:rPr>
                        <a:t>24K</a:t>
                      </a:r>
                      <a:endParaRPr lang="es-EC"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s-EC" sz="1800" u="none" strike="noStrike" dirty="0">
                          <a:effectLst/>
                        </a:rPr>
                        <a:t>Ninguna</a:t>
                      </a:r>
                      <a:endParaRPr lang="es-EC"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467737" y="573571"/>
            <a:ext cx="6584173" cy="584775"/>
          </a:xfrm>
          <a:prstGeom prst="rect">
            <a:avLst/>
          </a:prstGeom>
          <a:noFill/>
        </p:spPr>
        <p:txBody>
          <a:bodyPr wrap="square" rtlCol="0">
            <a:spAutoFit/>
          </a:bodyPr>
          <a:lstStyle/>
          <a:p>
            <a:pPr marL="457200" indent="-457200">
              <a:buFontTx/>
              <a:buChar char="-"/>
            </a:pPr>
            <a:r>
              <a:rPr lang="es-EC" sz="3200" dirty="0"/>
              <a:t>CALIDAD DE ORO SEGÚN EL COLOR</a:t>
            </a:r>
          </a:p>
        </p:txBody>
      </p:sp>
      <p:pic>
        <p:nvPicPr>
          <p:cNvPr id="3" name="Imagen 2"/>
          <p:cNvPicPr>
            <a:picLocks noChangeAspect="1"/>
          </p:cNvPicPr>
          <p:nvPr/>
        </p:nvPicPr>
        <p:blipFill>
          <a:blip r:embed="rId3"/>
          <a:stretch>
            <a:fillRect/>
          </a:stretch>
        </p:blipFill>
        <p:spPr>
          <a:xfrm>
            <a:off x="1452561" y="1681350"/>
            <a:ext cx="9277350" cy="1628775"/>
          </a:xfrm>
          <a:prstGeom prst="rect">
            <a:avLst/>
          </a:prstGeom>
        </p:spPr>
      </p:pic>
      <p:pic>
        <p:nvPicPr>
          <p:cNvPr id="5" name="Imagen 4"/>
          <p:cNvPicPr>
            <a:picLocks noChangeAspect="1"/>
          </p:cNvPicPr>
          <p:nvPr/>
        </p:nvPicPr>
        <p:blipFill>
          <a:blip r:embed="rId4"/>
          <a:stretch>
            <a:fillRect/>
          </a:stretch>
        </p:blipFill>
        <p:spPr>
          <a:xfrm>
            <a:off x="1463206" y="3310125"/>
            <a:ext cx="9324975" cy="1543050"/>
          </a:xfrm>
          <a:prstGeom prst="rect">
            <a:avLst/>
          </a:prstGeom>
        </p:spPr>
      </p:pic>
      <p:pic>
        <p:nvPicPr>
          <p:cNvPr id="7" name="Imagen 6"/>
          <p:cNvPicPr>
            <a:picLocks noChangeAspect="1"/>
          </p:cNvPicPr>
          <p:nvPr/>
        </p:nvPicPr>
        <p:blipFill>
          <a:blip r:embed="rId5"/>
          <a:stretch>
            <a:fillRect/>
          </a:stretch>
        </p:blipFill>
        <p:spPr>
          <a:xfrm>
            <a:off x="1403819" y="4744010"/>
            <a:ext cx="9286875" cy="17240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0"/>
          <p:cNvSpPr>
            <a:spLocks noGrp="1"/>
          </p:cNvSpPr>
          <p:nvPr>
            <p:ph type="title"/>
          </p:nvPr>
        </p:nvSpPr>
        <p:spPr/>
        <p:txBody>
          <a:bodyPr>
            <a:normAutofit fontScale="90000"/>
          </a:bodyPr>
          <a:lstStyle/>
          <a:p>
            <a:r>
              <a:rPr lang="es-EC" dirty="0"/>
              <a:t>REACCION DE DIFERENTES TIPO DE ORO AL  ACIDO</a:t>
            </a:r>
            <a:br>
              <a:rPr lang="es-EC" dirty="0"/>
            </a:br>
            <a:r>
              <a:rPr lang="es-EC" dirty="0"/>
              <a:t>(Reacción oro 18k y 750  frecuente  )</a:t>
            </a:r>
          </a:p>
        </p:txBody>
      </p:sp>
      <p:pic>
        <p:nvPicPr>
          <p:cNvPr id="9" name="Marcador de contenido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4574" y="1789043"/>
            <a:ext cx="7182852" cy="4903305"/>
          </a:xfrm>
        </p:spPr>
      </p:pic>
      <p:sp>
        <p:nvSpPr>
          <p:cNvPr id="2" name="Marcador de número de diapositiva 1"/>
          <p:cNvSpPr>
            <a:spLocks noGrp="1"/>
          </p:cNvSpPr>
          <p:nvPr>
            <p:ph type="sldNum" sz="quarter" idx="12"/>
          </p:nvPr>
        </p:nvSpPr>
        <p:spPr/>
        <p:txBody>
          <a:bodyPr/>
          <a:lstStyle/>
          <a:p>
            <a:pPr rtl="0"/>
            <a:fld id="{82EE24B5-652C-4DB5-B7C3-B5BBEC1280B1}" type="slidenum">
              <a:rPr lang="es-ES" noProof="0" smtClean="0"/>
              <a:t>17</a:t>
            </a:fld>
            <a:endParaRPr lang="es-ES" noProof="0" dirty="0"/>
          </a:p>
        </p:txBody>
      </p:sp>
    </p:spTree>
    <p:extLst>
      <p:ext uri="{BB962C8B-B14F-4D97-AF65-F5344CB8AC3E}">
        <p14:creationId xmlns:p14="http://schemas.microsoft.com/office/powerpoint/2010/main" val="674446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p:cNvSpPr>
            <a:spLocks noGrp="1"/>
          </p:cNvSpPr>
          <p:nvPr>
            <p:ph type="title"/>
          </p:nvPr>
        </p:nvSpPr>
        <p:spPr>
          <a:xfrm>
            <a:off x="824948" y="431386"/>
            <a:ext cx="10515600" cy="1325563"/>
          </a:xfrm>
        </p:spPr>
        <p:txBody>
          <a:bodyPr>
            <a:normAutofit fontScale="90000"/>
          </a:bodyPr>
          <a:lstStyle/>
          <a:p>
            <a:r>
              <a:rPr lang="es-EC" dirty="0"/>
              <a:t>REACCION DE DIFERENTES TIPO DE ORO AL  ACIDO</a:t>
            </a:r>
            <a:br>
              <a:rPr lang="es-EC" dirty="0"/>
            </a:br>
            <a:r>
              <a:rPr lang="es-EC" dirty="0"/>
              <a:t>(</a:t>
            </a:r>
            <a:r>
              <a:rPr lang="es-EC" dirty="0" err="1"/>
              <a:t>Reaccion</a:t>
            </a:r>
            <a:r>
              <a:rPr lang="es-EC" dirty="0"/>
              <a:t> oro blanco </a:t>
            </a:r>
            <a:r>
              <a:rPr lang="es-EC" dirty="0" err="1"/>
              <a:t>rodinado</a:t>
            </a:r>
            <a:r>
              <a:rPr lang="es-EC" dirty="0"/>
              <a:t> frecuente )</a:t>
            </a:r>
          </a:p>
        </p:txBody>
      </p:sp>
      <p:pic>
        <p:nvPicPr>
          <p:cNvPr id="16" name="Marcador de contenido 1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1409" y="1961321"/>
            <a:ext cx="6291016" cy="4678017"/>
          </a:xfrm>
        </p:spPr>
      </p:pic>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18</a:t>
            </a:fld>
            <a:endParaRPr lang="es-ES" noProof="0" dirty="0"/>
          </a:p>
        </p:txBody>
      </p:sp>
    </p:spTree>
    <p:extLst>
      <p:ext uri="{BB962C8B-B14F-4D97-AF65-F5344CB8AC3E}">
        <p14:creationId xmlns:p14="http://schemas.microsoft.com/office/powerpoint/2010/main" val="2606202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19</a:t>
            </a:fld>
            <a:endParaRPr lang="es-ES" noProof="0" dirty="0"/>
          </a:p>
        </p:txBody>
      </p:sp>
      <p:sp>
        <p:nvSpPr>
          <p:cNvPr id="5" name="Título 10"/>
          <p:cNvSpPr>
            <a:spLocks noGrp="1"/>
          </p:cNvSpPr>
          <p:nvPr>
            <p:ph type="title"/>
          </p:nvPr>
        </p:nvSpPr>
        <p:spPr/>
        <p:txBody>
          <a:bodyPr>
            <a:normAutofit fontScale="90000"/>
          </a:bodyPr>
          <a:lstStyle/>
          <a:p>
            <a:r>
              <a:rPr lang="es-EC" dirty="0"/>
              <a:t>REACCION DE DIFERENTES TIPO DE ORO AL  ACIDO</a:t>
            </a:r>
            <a:br>
              <a:rPr lang="es-EC" dirty="0"/>
            </a:br>
            <a:r>
              <a:rPr lang="es-EC" dirty="0"/>
              <a:t>(</a:t>
            </a:r>
            <a:r>
              <a:rPr lang="es-EC" dirty="0" err="1"/>
              <a:t>Reaccion</a:t>
            </a:r>
            <a:r>
              <a:rPr lang="es-EC" dirty="0"/>
              <a:t> oro 14k frecuente  )</a:t>
            </a:r>
          </a:p>
        </p:txBody>
      </p:sp>
      <p:pic>
        <p:nvPicPr>
          <p:cNvPr id="8" name="Marcador de contenido 7"/>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90600" y="1825625"/>
            <a:ext cx="4876800" cy="4349277"/>
          </a:xfrm>
        </p:spPr>
      </p:pic>
      <p:pic>
        <p:nvPicPr>
          <p:cNvPr id="9" name="Marcador de contenido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71516" y="1825625"/>
            <a:ext cx="4582968" cy="4351338"/>
          </a:xfrm>
        </p:spPr>
      </p:pic>
    </p:spTree>
    <p:extLst>
      <p:ext uri="{BB962C8B-B14F-4D97-AF65-F5344CB8AC3E}">
        <p14:creationId xmlns:p14="http://schemas.microsoft.com/office/powerpoint/2010/main" val="3277740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9055" y="1825625"/>
            <a:ext cx="4693890" cy="4351338"/>
          </a:xfrm>
        </p:spPr>
      </p:pic>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20</a:t>
            </a:fld>
            <a:endParaRPr lang="es-ES" noProof="0" dirty="0"/>
          </a:p>
        </p:txBody>
      </p:sp>
      <p:sp>
        <p:nvSpPr>
          <p:cNvPr id="5" name="Título 10"/>
          <p:cNvSpPr>
            <a:spLocks noGrp="1"/>
          </p:cNvSpPr>
          <p:nvPr>
            <p:ph type="title"/>
          </p:nvPr>
        </p:nvSpPr>
        <p:spPr/>
        <p:txBody>
          <a:bodyPr>
            <a:normAutofit fontScale="90000"/>
          </a:bodyPr>
          <a:lstStyle/>
          <a:p>
            <a:r>
              <a:rPr lang="es-EC" dirty="0"/>
              <a:t>REACCION DE DIFERENTES TIPO DE ORO AL  ACIDO</a:t>
            </a:r>
            <a:br>
              <a:rPr lang="es-EC" dirty="0"/>
            </a:br>
            <a:r>
              <a:rPr lang="es-EC" dirty="0"/>
              <a:t>(</a:t>
            </a:r>
            <a:r>
              <a:rPr lang="es-EC" dirty="0" err="1"/>
              <a:t>Reaccion</a:t>
            </a:r>
            <a:r>
              <a:rPr lang="es-EC" dirty="0"/>
              <a:t> oro 10k frecuente )</a:t>
            </a:r>
          </a:p>
        </p:txBody>
      </p:sp>
    </p:spTree>
    <p:extLst>
      <p:ext uri="{BB962C8B-B14F-4D97-AF65-F5344CB8AC3E}">
        <p14:creationId xmlns:p14="http://schemas.microsoft.com/office/powerpoint/2010/main" val="4246941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dirty="0"/>
              <a:t>INTENSIDAD REACCION 14K, 10K Y COBRE </a:t>
            </a:r>
          </a:p>
        </p:txBody>
      </p:sp>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8231" y="2286554"/>
            <a:ext cx="8335538" cy="4253473"/>
          </a:xfrm>
        </p:spPr>
      </p:pic>
      <p:sp>
        <p:nvSpPr>
          <p:cNvPr id="4" name="Marcador de número de diapositiva 3"/>
          <p:cNvSpPr>
            <a:spLocks noGrp="1"/>
          </p:cNvSpPr>
          <p:nvPr>
            <p:ph type="sldNum" sz="quarter" idx="12"/>
          </p:nvPr>
        </p:nvSpPr>
        <p:spPr/>
        <p:txBody>
          <a:bodyPr/>
          <a:lstStyle/>
          <a:p>
            <a:pPr rtl="0"/>
            <a:fld id="{82EE24B5-652C-4DB5-B7C3-B5BBEC1280B1}" type="slidenum">
              <a:rPr lang="es-ES" noProof="0" smtClean="0"/>
              <a:t>21</a:t>
            </a:fld>
            <a:endParaRPr lang="es-ES" noProof="0" dirty="0"/>
          </a:p>
        </p:txBody>
      </p:sp>
    </p:spTree>
    <p:extLst>
      <p:ext uri="{BB962C8B-B14F-4D97-AF65-F5344CB8AC3E}">
        <p14:creationId xmlns:p14="http://schemas.microsoft.com/office/powerpoint/2010/main" val="643761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D5537408-2125-4CE5-92A7-F7E0FCBA31D0}"/>
              </a:ext>
            </a:extLst>
          </p:cNvPr>
          <p:cNvSpPr txBox="1">
            <a:spLocks/>
          </p:cNvSpPr>
          <p:nvPr/>
        </p:nvSpPr>
        <p:spPr>
          <a:xfrm>
            <a:off x="251791" y="1275178"/>
            <a:ext cx="6348413" cy="4140200"/>
          </a:xfrm>
          <a:prstGeom prst="rect">
            <a:avLst/>
          </a:prstGeom>
          <a:solidFill>
            <a:schemeClr val="accent2"/>
          </a:solidFill>
        </p:spPr>
        <p:txBody>
          <a:bodyPr lIns="1548000" tIns="21600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rtl="0">
              <a:spcBef>
                <a:spcPts val="1100"/>
              </a:spcBef>
              <a:buFont typeface="Arial" panose="020B0604020202020204" pitchFamily="34" charset="0"/>
              <a:buNone/>
            </a:pPr>
            <a:r>
              <a:rPr lang="es-ES" sz="2500" b="1" i="1" spc="60" dirty="0">
                <a:solidFill>
                  <a:schemeClr val="bg2">
                    <a:lumMod val="20000"/>
                    <a:lumOff val="80000"/>
                    <a:alpha val="75000"/>
                  </a:schemeClr>
                </a:solidFill>
                <a:cs typeface="Arial"/>
              </a:rPr>
              <a:t>RASHELL SILVA</a:t>
            </a:r>
            <a:endParaRPr lang="es-ES" sz="2500" b="1" i="1" dirty="0">
              <a:solidFill>
                <a:schemeClr val="bg2">
                  <a:lumMod val="20000"/>
                  <a:lumOff val="80000"/>
                  <a:alpha val="75000"/>
                </a:schemeClr>
              </a:solidFill>
              <a:cs typeface="Arial"/>
            </a:endParaRPr>
          </a:p>
          <a:p>
            <a:pPr marL="0" indent="0" rtl="0">
              <a:lnSpc>
                <a:spcPct val="125000"/>
              </a:lnSpc>
              <a:buFont typeface="Arial" panose="020B0604020202020204" pitchFamily="34" charset="0"/>
              <a:buNone/>
            </a:pPr>
            <a:endParaRPr lang="es-ES" sz="2500" b="1" dirty="0">
              <a:solidFill>
                <a:schemeClr val="bg2">
                  <a:alpha val="50000"/>
                </a:schemeClr>
              </a:solidFill>
            </a:endParaRPr>
          </a:p>
        </p:txBody>
      </p:sp>
      <p:sp>
        <p:nvSpPr>
          <p:cNvPr id="6" name="objeto 6" descr="Rectángulo beige">
            <a:extLst>
              <a:ext uri="{FF2B5EF4-FFF2-40B4-BE49-F238E27FC236}">
                <a16:creationId xmlns:a16="http://schemas.microsoft.com/office/drawing/2014/main" id="{B0C70F64-F3E5-413B-AF4F-E15CE944B761}"/>
              </a:ext>
            </a:extLst>
          </p:cNvPr>
          <p:cNvSpPr/>
          <p:nvPr/>
        </p:nvSpPr>
        <p:spPr>
          <a:xfrm>
            <a:off x="949865" y="2894901"/>
            <a:ext cx="3312000" cy="0"/>
          </a:xfrm>
          <a:custGeom>
            <a:avLst/>
            <a:gdLst/>
            <a:ahLst/>
            <a:cxnLst/>
            <a:rect l="l" t="t" r="r" b="b"/>
            <a:pathLst>
              <a:path w="4206240">
                <a:moveTo>
                  <a:pt x="0" y="0"/>
                </a:moveTo>
                <a:lnTo>
                  <a:pt x="4206240" y="0"/>
                </a:lnTo>
              </a:path>
            </a:pathLst>
          </a:custGeom>
          <a:ln w="54863">
            <a:solidFill>
              <a:schemeClr val="accent1"/>
            </a:solidFill>
          </a:ln>
        </p:spPr>
        <p:txBody>
          <a:bodyPr wrap="square" lIns="0" tIns="0" rIns="0" bIns="0" rtlCol="0"/>
          <a:lstStyle/>
          <a:p>
            <a:pPr rtl="0"/>
            <a:endParaRPr lang="es-ES" dirty="0"/>
          </a:p>
        </p:txBody>
      </p:sp>
      <p:pic>
        <p:nvPicPr>
          <p:cNvPr id="8" name="Gráfico 7" descr="Icono de persona">
            <a:extLst>
              <a:ext uri="{FF2B5EF4-FFF2-40B4-BE49-F238E27FC236}">
                <a16:creationId xmlns:a16="http://schemas.microsoft.com/office/drawing/2014/main" id="{AC7339AD-1A2B-4702-8C29-5CFB6D1BBB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237" y="3470503"/>
            <a:ext cx="342900" cy="352425"/>
          </a:xfrm>
          <a:prstGeom prst="rect">
            <a:avLst/>
          </a:prstGeom>
        </p:spPr>
      </p:pic>
      <p:sp>
        <p:nvSpPr>
          <p:cNvPr id="2" name="Título 1">
            <a:extLst>
              <a:ext uri="{FF2B5EF4-FFF2-40B4-BE49-F238E27FC236}">
                <a16:creationId xmlns:a16="http://schemas.microsoft.com/office/drawing/2014/main" id="{1BD43A5E-77DF-44FD-800D-158434A3ABC6}"/>
              </a:ext>
            </a:extLst>
          </p:cNvPr>
          <p:cNvSpPr>
            <a:spLocks noGrp="1"/>
          </p:cNvSpPr>
          <p:nvPr>
            <p:ph type="title"/>
          </p:nvPr>
        </p:nvSpPr>
        <p:spPr>
          <a:xfrm>
            <a:off x="838200" y="1701559"/>
            <a:ext cx="4859215" cy="1325563"/>
          </a:xfrm>
        </p:spPr>
        <p:txBody>
          <a:bodyPr rtlCol="0">
            <a:normAutofit/>
          </a:bodyPr>
          <a:lstStyle/>
          <a:p>
            <a:pPr rtl="0"/>
            <a:r>
              <a:rPr lang="es-ES" sz="5000" dirty="0">
                <a:solidFill>
                  <a:schemeClr val="bg1"/>
                </a:solidFill>
              </a:rPr>
              <a:t>¡GRACIAS!</a:t>
            </a:r>
            <a:endParaRPr lang="es-ES" sz="5000" dirty="0"/>
          </a:p>
        </p:txBody>
      </p:sp>
    </p:spTree>
    <p:extLst>
      <p:ext uri="{BB962C8B-B14F-4D97-AF65-F5344CB8AC3E}">
        <p14:creationId xmlns:p14="http://schemas.microsoft.com/office/powerpoint/2010/main" val="1486951216"/>
      </p:ext>
    </p:extLst>
  </p:cSld>
  <p:clrMapOvr>
    <a:masterClrMapping/>
  </p:clrMapOvr>
</p:sld>
</file>

<file path=ppt/theme/theme1.xml><?xml version="1.0" encoding="utf-8"?>
<a:theme xmlns:a="http://schemas.openxmlformats.org/drawingml/2006/main" name="Tema de la oficina">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5087709_TF45022061.potx" id="{CF8F7AC9-B209-40DA-B01B-03DE7680F64C}" vid="{9567545B-13CB-48C1-B233-082DD3A40F6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2.xml><?xml version="1.0" encoding="utf-8"?>
<ds:datastoreItem xmlns:ds="http://schemas.openxmlformats.org/officeDocument/2006/customXml" ds:itemID="{3C118CE8-9293-4220-BA3B-5D353B13ABC9}">
  <ds:schemaRefs>
    <ds:schemaRef ds:uri="16c05727-aa75-4e4a-9b5f-8a80a1165891"/>
    <ds:schemaRef ds:uri="http://schemas.openxmlformats.org/package/2006/metadata/core-properties"/>
    <ds:schemaRef ds:uri="http://schemas.microsoft.com/office/2006/documentManagement/types"/>
    <ds:schemaRef ds:uri="http://purl.org/dc/dcmitype/"/>
    <ds:schemaRef ds:uri="http://purl.org/dc/elements/1.1/"/>
    <ds:schemaRef ds:uri="http://purl.org/dc/terms/"/>
    <ds:schemaRef ds:uri="71af3243-3dd4-4a8d-8c0d-dd76da1f02a5"/>
    <ds:schemaRef ds:uri="http://www.w3.org/XML/1998/namespace"/>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Plan de marketing de servicios profesionales</Template>
  <TotalTime>1855</TotalTime>
  <Words>1457</Words>
  <Application>Microsoft Office PowerPoint</Application>
  <PresentationFormat>Panorámica</PresentationFormat>
  <Paragraphs>139</Paragraphs>
  <Slides>22</Slides>
  <Notes>6</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22</vt:i4>
      </vt:variant>
    </vt:vector>
  </HeadingPairs>
  <TitlesOfParts>
    <vt:vector size="31" baseType="lpstr">
      <vt:lpstr>Arial</vt:lpstr>
      <vt:lpstr>Arial </vt:lpstr>
      <vt:lpstr>Calibri</vt:lpstr>
      <vt:lpstr>Crimson Text</vt:lpstr>
      <vt:lpstr>Georgia</vt:lpstr>
      <vt:lpstr>Gill Sans MT</vt:lpstr>
      <vt:lpstr>Nanum Gothic</vt:lpstr>
      <vt:lpstr>Times New Roman</vt:lpstr>
      <vt:lpstr>Tema de la oficina</vt:lpstr>
      <vt:lpstr>RECONOCIMIENTO DE ORO Pasos para reconocer el oro.</vt:lpstr>
      <vt:lpstr>Objetivo</vt:lpstr>
      <vt:lpstr>TASACIONES </vt:lpstr>
      <vt:lpstr>PASOS PARA RECONOCIMIENTO DE ORO</vt:lpstr>
      <vt:lpstr>PASOS PARA RECONOCIMIENTO DE ORO</vt:lpstr>
      <vt:lpstr>PASOS PARA RECONOCIMIENTO DE ORO </vt:lpstr>
      <vt:lpstr>Presentación de PowerPoint</vt:lpstr>
      <vt:lpstr>PASOS PARA RECONOCIMIENTO DE ORO </vt:lpstr>
      <vt:lpstr>HERRAMIENTA ADECUADAS PARA PRUEBA EFICAZ</vt:lpstr>
      <vt:lpstr>HERRAMIENTA ADECUADAS PARA PRUEBA EFICAZ</vt:lpstr>
      <vt:lpstr>HERRAMIENTA ADECUADAS PARA PRUEBA EFICAZ</vt:lpstr>
      <vt:lpstr>RECONOCIMIENTO DE ORO BLANCO </vt:lpstr>
      <vt:lpstr>Presentación de PowerPoint</vt:lpstr>
      <vt:lpstr>Presentación de PowerPoint</vt:lpstr>
      <vt:lpstr>Presentación de PowerPoint</vt:lpstr>
      <vt:lpstr>Presentación de PowerPoint</vt:lpstr>
      <vt:lpstr>REACCION DE DIFERENTES TIPO DE ORO AL  ACIDO (Reacción oro 18k y 750  frecuente  )</vt:lpstr>
      <vt:lpstr>REACCION DE DIFERENTES TIPO DE ORO AL  ACIDO (Reaccion oro blanco rodinado frecuente )</vt:lpstr>
      <vt:lpstr>REACCION DE DIFERENTES TIPO DE ORO AL  ACIDO (Reaccion oro 14k frecuente  )</vt:lpstr>
      <vt:lpstr>REACCION DE DIFERENTES TIPO DE ORO AL  ACIDO (Reaccion oro 10k frecuente )</vt:lpstr>
      <vt:lpstr>INTENSIDAD REACCION 14K, 10K Y COBRE </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ORO Pasos para reconocer el oro.</dc:title>
  <dc:creator>SIAPE10</dc:creator>
  <cp:lastModifiedBy>User</cp:lastModifiedBy>
  <cp:revision>27</cp:revision>
  <dcterms:created xsi:type="dcterms:W3CDTF">2024-01-04T19:58:07Z</dcterms:created>
  <dcterms:modified xsi:type="dcterms:W3CDTF">2025-12-05T04:17:06Z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